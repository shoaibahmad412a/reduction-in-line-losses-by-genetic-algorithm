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20"/>
  </p:notesMasterIdLst>
  <p:handoutMasterIdLst>
    <p:handoutMasterId r:id="rId21"/>
  </p:handoutMasterIdLst>
  <p:sldIdLst>
    <p:sldId id="256" r:id="rId5"/>
    <p:sldId id="257" r:id="rId6"/>
    <p:sldId id="299" r:id="rId7"/>
    <p:sldId id="300" r:id="rId8"/>
    <p:sldId id="301" r:id="rId9"/>
    <p:sldId id="302" r:id="rId10"/>
    <p:sldId id="303" r:id="rId11"/>
    <p:sldId id="304" r:id="rId12"/>
    <p:sldId id="305" r:id="rId13"/>
    <p:sldId id="306" r:id="rId14"/>
    <p:sldId id="307" r:id="rId15"/>
    <p:sldId id="308" r:id="rId16"/>
    <p:sldId id="309" r:id="rId17"/>
    <p:sldId id="310" r:id="rId18"/>
    <p:sldId id="296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593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9012ECD-51FC-41F1-AA8D-1B2483CD663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5646" autoAdjust="0"/>
  </p:normalViewPr>
  <p:slideViewPr>
    <p:cSldViewPr snapToGrid="0">
      <p:cViewPr varScale="1">
        <p:scale>
          <a:sx n="85" d="100"/>
          <a:sy n="85" d="100"/>
        </p:scale>
        <p:origin x="590" y="53"/>
      </p:cViewPr>
      <p:guideLst/>
    </p:cSldViewPr>
  </p:slideViewPr>
  <p:outlineViewPr>
    <p:cViewPr>
      <p:scale>
        <a:sx n="33" d="100"/>
        <a:sy n="33" d="100"/>
      </p:scale>
      <p:origin x="0" y="-576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7325"/>
    </p:cViewPr>
  </p:sorterViewPr>
  <p:notesViewPr>
    <p:cSldViewPr snapToGrid="0">
      <p:cViewPr varScale="1">
        <p:scale>
          <a:sx n="58" d="100"/>
          <a:sy n="58" d="100"/>
        </p:scale>
        <p:origin x="2371" y="6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commentAuthors" Target="commentAuthors.xml"/><Relationship Id="rId27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FB8B65A-D69F-C26C-B67E-036EF77BF1F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2B9064-AE57-427F-E5AF-71DE7D52FE6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8190EA-5EEC-4300-B6AE-D9734C6C648E}" type="datetimeFigureOut">
              <a:rPr lang="en-US" smtClean="0"/>
              <a:t>11/17/2025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86157A-CEB9-B0FC-3A49-BE950AEAD6F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819CA0-A57D-42D7-A625-56C22D0FA7C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FF3A6F-DEFA-45E0-9496-BEE7C2C6F3D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600222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87ADD9-2083-264C-A652-8D52D02F7E72}" type="datetimeFigureOut">
              <a:rPr lang="en-US" smtClean="0"/>
              <a:t>11/17/2025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7DC217-DF71-1A49-B3EA-559F1F43B0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64252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93858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52478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79398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62698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76513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38503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40784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43684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730213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518880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96022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22987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650294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680673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0086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AC79249-FDC0-364D-A734-AE1DE1605D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572000"/>
            <a:ext cx="12192000" cy="2286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3537B6D-42A5-F449-2691-321A167F7C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3419"/>
            <a:ext cx="12192000" cy="6861419"/>
            <a:chOff x="0" y="-3419"/>
            <a:chExt cx="12192000" cy="6861419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902465C8-266D-104C-9C49-323DF4A8277E}"/>
                </a:ext>
              </a:extLst>
            </p:cNvPr>
            <p:cNvSpPr/>
            <p:nvPr userDrawn="1"/>
          </p:nvSpPr>
          <p:spPr>
            <a:xfrm>
              <a:off x="583746" y="4960030"/>
              <a:ext cx="1551214" cy="1551214"/>
            </a:xfrm>
            <a:prstGeom prst="ellipse">
              <a:avLst/>
            </a:prstGeom>
            <a:solidFill>
              <a:schemeClr val="tx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37979A1C-BF60-B345-A664-2E4F7A3461EB}"/>
                </a:ext>
              </a:extLst>
            </p:cNvPr>
            <p:cNvSpPr/>
            <p:nvPr userDrawn="1"/>
          </p:nvSpPr>
          <p:spPr>
            <a:xfrm>
              <a:off x="1" y="4571999"/>
              <a:ext cx="1118508" cy="1118508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58080B3E-915C-2D4C-8608-596E1BFD6387}"/>
                </a:ext>
              </a:extLst>
            </p:cNvPr>
            <p:cNvSpPr/>
            <p:nvPr userDrawn="1"/>
          </p:nvSpPr>
          <p:spPr>
            <a:xfrm>
              <a:off x="1" y="5739492"/>
              <a:ext cx="1118508" cy="1118508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F15FBB50-09C8-B64E-AE57-67C5E70810CB}"/>
                </a:ext>
              </a:extLst>
            </p:cNvPr>
            <p:cNvGrpSpPr/>
            <p:nvPr userDrawn="1"/>
          </p:nvGrpSpPr>
          <p:grpSpPr>
            <a:xfrm>
              <a:off x="8264427" y="-3419"/>
              <a:ext cx="3927573" cy="3165022"/>
              <a:chOff x="9857014" y="13834"/>
              <a:chExt cx="2334986" cy="1881641"/>
            </a:xfrm>
          </p:grpSpPr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C68F289-2744-2F48-893A-3F17911625C8}"/>
                </a:ext>
              </a:extLst>
            </p:cNvPr>
            <p:cNvSpPr/>
            <p:nvPr userDrawn="1"/>
          </p:nvSpPr>
          <p:spPr>
            <a:xfrm>
              <a:off x="0" y="-1"/>
              <a:ext cx="1167493" cy="1167493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9E240E8A-950E-7946-826C-415CB5DACA43}"/>
                </a:ext>
              </a:extLst>
            </p:cNvPr>
            <p:cNvSpPr/>
            <p:nvPr userDrawn="1"/>
          </p:nvSpPr>
          <p:spPr>
            <a:xfrm>
              <a:off x="11024507" y="4580708"/>
              <a:ext cx="1167493" cy="2277292"/>
            </a:xfrm>
            <a:custGeom>
              <a:avLst/>
              <a:gdLst>
                <a:gd name="connsiteX0" fmla="*/ 1167473 w 1167493"/>
                <a:gd name="connsiteY0" fmla="*/ 0 h 2272167"/>
                <a:gd name="connsiteX1" fmla="*/ 1167493 w 1167493"/>
                <a:gd name="connsiteY1" fmla="*/ 0 h 2272167"/>
                <a:gd name="connsiteX2" fmla="*/ 1167493 w 1167493"/>
                <a:gd name="connsiteY2" fmla="*/ 492960 h 2272167"/>
                <a:gd name="connsiteX3" fmla="*/ 1167493 w 1167493"/>
                <a:gd name="connsiteY3" fmla="*/ 720385 h 2272167"/>
                <a:gd name="connsiteX4" fmla="*/ 1167493 w 1167493"/>
                <a:gd name="connsiteY4" fmla="*/ 2272167 h 2272167"/>
                <a:gd name="connsiteX5" fmla="*/ 0 w 1167493"/>
                <a:gd name="connsiteY5" fmla="*/ 2272167 h 2272167"/>
                <a:gd name="connsiteX6" fmla="*/ 0 w 1167493"/>
                <a:gd name="connsiteY6" fmla="*/ 1898074 h 2272167"/>
                <a:gd name="connsiteX7" fmla="*/ 0 w 1167493"/>
                <a:gd name="connsiteY7" fmla="*/ 1271597 h 2272167"/>
                <a:gd name="connsiteX8" fmla="*/ 0 w 1167493"/>
                <a:gd name="connsiteY8" fmla="*/ 1177688 h 2272167"/>
                <a:gd name="connsiteX9" fmla="*/ 1048124 w 1167493"/>
                <a:gd name="connsiteY9" fmla="*/ 6080 h 2272167"/>
                <a:gd name="connsiteX10" fmla="*/ 1167473 w 1167493"/>
                <a:gd name="connsiteY10" fmla="*/ 0 h 2272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67493" h="2272167">
                  <a:moveTo>
                    <a:pt x="1167473" y="0"/>
                  </a:moveTo>
                  <a:lnTo>
                    <a:pt x="1167493" y="0"/>
                  </a:lnTo>
                  <a:lnTo>
                    <a:pt x="1167493" y="492960"/>
                  </a:lnTo>
                  <a:lnTo>
                    <a:pt x="1167493" y="720385"/>
                  </a:lnTo>
                  <a:lnTo>
                    <a:pt x="1167493" y="2272167"/>
                  </a:lnTo>
                  <a:lnTo>
                    <a:pt x="0" y="2272167"/>
                  </a:lnTo>
                  <a:lnTo>
                    <a:pt x="0" y="1898074"/>
                  </a:lnTo>
                  <a:lnTo>
                    <a:pt x="0" y="1271597"/>
                  </a:lnTo>
                  <a:lnTo>
                    <a:pt x="0" y="1177688"/>
                  </a:lnTo>
                  <a:cubicBezTo>
                    <a:pt x="0" y="567919"/>
                    <a:pt x="459408" y="66389"/>
                    <a:pt x="1048124" y="6080"/>
                  </a:cubicBezTo>
                  <a:lnTo>
                    <a:pt x="1167473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3" y="232913"/>
            <a:ext cx="7096933" cy="3830130"/>
          </a:xfrm>
        </p:spPr>
        <p:txBody>
          <a:bodyPr anchor="b">
            <a:noAutofit/>
          </a:bodyPr>
          <a:lstStyle>
            <a:lvl1pPr algn="l">
              <a:defRPr sz="60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916498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AC10D125-AB73-D276-4947-94204736A3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+mn-lt"/>
              </a:endParaRP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58864" y="102021"/>
            <a:ext cx="9779183" cy="1744415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58865" y="2017467"/>
            <a:ext cx="9779182" cy="3366815"/>
          </a:xfrm>
        </p:spPr>
        <p:txBody>
          <a:bodyPr>
            <a:normAutofit/>
          </a:bodyPr>
          <a:lstStyle>
            <a:lvl1pPr marL="0" indent="0">
              <a:buNone/>
              <a:defRPr>
                <a:latin typeface="+mn-lt"/>
              </a:defRPr>
            </a:lvl1pPr>
            <a:lvl2pPr marL="457200" indent="0">
              <a:buNone/>
              <a:defRPr>
                <a:latin typeface="+mn-lt"/>
              </a:defRPr>
            </a:lvl2pPr>
            <a:lvl3pPr marL="914400" indent="0">
              <a:buNone/>
              <a:defRPr>
                <a:latin typeface="+mn-lt"/>
              </a:defRPr>
            </a:lvl3pPr>
            <a:lvl4pPr marL="1371600" indent="0">
              <a:buNone/>
              <a:defRPr>
                <a:latin typeface="+mn-lt"/>
              </a:defRPr>
            </a:lvl4pPr>
            <a:lvl5pPr marL="1828800" indent="0">
              <a:buNone/>
              <a:defRPr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271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CCEDB282-8288-C81F-52B5-048A3E80C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1"/>
            <a:ext cx="12208822" cy="6858003"/>
            <a:chOff x="0" y="-1"/>
            <a:chExt cx="12208822" cy="685800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A62587F-7496-384A-AF40-18FC8CF0709D}"/>
                </a:ext>
              </a:extLst>
            </p:cNvPr>
            <p:cNvSpPr/>
            <p:nvPr userDrawn="1"/>
          </p:nvSpPr>
          <p:spPr>
            <a:xfrm>
              <a:off x="0" y="2286002"/>
              <a:ext cx="12208822" cy="4572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84DB028B-A475-224B-B675-A15A56CAD0BF}"/>
                </a:ext>
              </a:extLst>
            </p:cNvPr>
            <p:cNvSpPr/>
            <p:nvPr userDrawn="1"/>
          </p:nvSpPr>
          <p:spPr>
            <a:xfrm flipH="1">
              <a:off x="8597718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61C34955-105B-4D4D-B51D-754C5D38A85D}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2734DEB1-EC02-2E42-9292-4ADD115060A5}"/>
                </a:ext>
              </a:extLst>
            </p:cNvPr>
            <p:cNvSpPr/>
            <p:nvPr userDrawn="1"/>
          </p:nvSpPr>
          <p:spPr>
            <a:xfrm rot="5400000" flipH="1" flipV="1">
              <a:off x="10344100" y="438098"/>
              <a:ext cx="2285999" cy="1409801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3" name="Title 1">
            <a:extLst>
              <a:ext uri="{FF2B5EF4-FFF2-40B4-BE49-F238E27FC236}">
                <a16:creationId xmlns:a16="http://schemas.microsoft.com/office/drawing/2014/main" id="{5E932F0D-7FC3-634B-932C-3625C16C8D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45085"/>
            <a:ext cx="9779183" cy="1600835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1EED44-783E-8705-4119-D7E9F7D4F2B4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1166087" y="2652713"/>
            <a:ext cx="9780587" cy="3436936"/>
          </a:xfrm>
        </p:spPr>
        <p:txBody>
          <a:bodyPr>
            <a:normAutofit/>
          </a:bodyPr>
          <a:lstStyle>
            <a:lvl1pPr marL="342900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1pPr>
            <a:lvl2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2pPr>
            <a:lvl3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3pPr>
            <a:lvl4pPr marL="1097280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4pPr>
            <a:lvl5pPr marL="1371600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95D4F5-F69B-42F6-8A9D-330F696E1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79A23A-2238-4904-8692-9F2DAE8B8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69FC35-DDC8-45FB-8ACB-21C15F57C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06318" y="6356350"/>
            <a:ext cx="1604682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31769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95FBCE6F-2AA9-31FE-8148-33B4807355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067EACEC-C2DD-EA42-8504-176673AD1F20}"/>
                </a:ext>
              </a:extLst>
            </p:cNvPr>
            <p:cNvSpPr/>
            <p:nvPr userDrawn="1"/>
          </p:nvSpPr>
          <p:spPr>
            <a:xfrm>
              <a:off x="0" y="0"/>
              <a:ext cx="8025490" cy="6858000"/>
            </a:xfrm>
            <a:custGeom>
              <a:avLst/>
              <a:gdLst>
                <a:gd name="connsiteX0" fmla="*/ 0 w 8025490"/>
                <a:gd name="connsiteY0" fmla="*/ 0 h 6858000"/>
                <a:gd name="connsiteX1" fmla="*/ 4596490 w 8025490"/>
                <a:gd name="connsiteY1" fmla="*/ 0 h 6858000"/>
                <a:gd name="connsiteX2" fmla="*/ 8025490 w 8025490"/>
                <a:gd name="connsiteY2" fmla="*/ 3429000 h 6858000"/>
                <a:gd name="connsiteX3" fmla="*/ 4596490 w 8025490"/>
                <a:gd name="connsiteY3" fmla="*/ 6858000 h 6858000"/>
                <a:gd name="connsiteX4" fmla="*/ 0 w 8025490"/>
                <a:gd name="connsiteY4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25490" h="6858000">
                  <a:moveTo>
                    <a:pt x="0" y="0"/>
                  </a:moveTo>
                  <a:lnTo>
                    <a:pt x="4596490" y="0"/>
                  </a:lnTo>
                  <a:cubicBezTo>
                    <a:pt x="6490274" y="0"/>
                    <a:pt x="8025490" y="1535216"/>
                    <a:pt x="8025490" y="3429000"/>
                  </a:cubicBezTo>
                  <a:cubicBezTo>
                    <a:pt x="8025490" y="5322784"/>
                    <a:pt x="6490274" y="6858000"/>
                    <a:pt x="4596490" y="6858000"/>
                  </a:cubicBezTo>
                  <a:lnTo>
                    <a:pt x="0" y="685800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89843C7E-5704-7A46-8974-F3BFA42E7310}"/>
                </a:ext>
              </a:extLst>
            </p:cNvPr>
            <p:cNvGrpSpPr/>
            <p:nvPr userDrawn="1"/>
          </p:nvGrpSpPr>
          <p:grpSpPr>
            <a:xfrm rot="16200000">
              <a:off x="8286528" y="2207195"/>
              <a:ext cx="3032351" cy="2443610"/>
              <a:chOff x="9857014" y="13834"/>
              <a:chExt cx="2334986" cy="1881641"/>
            </a:xfrm>
          </p:grpSpPr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0B179973-08D2-EF40-B516-35E75E906394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6C811FF3-E48A-194D-8022-65F8C3A17449}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4" y="177553"/>
            <a:ext cx="6245912" cy="3269447"/>
          </a:xfrm>
        </p:spPr>
        <p:txBody>
          <a:bodyPr bIns="0" anchor="b">
            <a:noAutofit/>
          </a:bodyPr>
          <a:lstStyle>
            <a:lvl1pPr algn="l">
              <a:defRPr sz="60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7494" y="3492896"/>
            <a:ext cx="6245912" cy="912850"/>
          </a:xfrm>
        </p:spPr>
        <p:txBody>
          <a:bodyPr anchor="ctr" anchorCtr="0">
            <a:no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9865294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14DB56B5-5DD7-95E3-52B2-EDC4B3F130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136526"/>
            <a:ext cx="9601200" cy="1653371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67493" y="2023984"/>
            <a:ext cx="4663440" cy="333283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sz="2000"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94CA559C-3355-DE44-ACF9-BDB6083C4225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6283235" y="2023984"/>
            <a:ext cx="4663440" cy="333283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sz="2000"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78435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1A0E8D4A-B13C-C7EE-5E27-278124A127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1"/>
            <a:ext cx="12191999" cy="6857999"/>
            <a:chOff x="1" y="1"/>
            <a:chExt cx="12191999" cy="6857999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</a:extLst>
            </p:cNvPr>
            <p:cNvSpPr/>
            <p:nvPr userDrawn="1"/>
          </p:nvSpPr>
          <p:spPr>
            <a:xfrm rot="5400000" flipH="1">
              <a:off x="1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69008"/>
            <a:ext cx="9779183" cy="1706563"/>
          </a:xfrm>
        </p:spPr>
        <p:txBody>
          <a:bodyPr anchor="b">
            <a:noAutofit/>
          </a:bodyPr>
          <a:lstStyle>
            <a:lvl1pPr>
              <a:defRPr sz="42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926B296A-EB6A-9BE9-E813-B15C46524F4D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1167493" y="2023984"/>
            <a:ext cx="4663440" cy="3332832"/>
          </a:xfrm>
        </p:spPr>
        <p:txBody>
          <a:bodyPr>
            <a:normAutofit/>
          </a:bodyPr>
          <a:lstStyle>
            <a:lvl1pPr marL="530352" indent="-530352">
              <a:spcBef>
                <a:spcPts val="1000"/>
              </a:spcBef>
              <a:buFont typeface="+mj-lt"/>
              <a:buAutoNum type="arabicPeriod"/>
              <a:defRPr sz="2000">
                <a:solidFill>
                  <a:schemeClr val="bg1"/>
                </a:solidFill>
                <a:latin typeface="+mn-lt"/>
              </a:defRPr>
            </a:lvl1pPr>
            <a:lvl2pPr marL="1097280" indent="-530352">
              <a:spcBef>
                <a:spcPts val="1000"/>
              </a:spcBef>
              <a:buFont typeface="+mj-lt"/>
              <a:buAutoNum type="alphaLcPeriod"/>
              <a:defRPr sz="2000">
                <a:solidFill>
                  <a:schemeClr val="bg1"/>
                </a:solidFill>
                <a:latin typeface="+mn-lt"/>
              </a:defRPr>
            </a:lvl2pPr>
            <a:lvl3pPr marL="1645920" indent="-530352">
              <a:spcBef>
                <a:spcPts val="1000"/>
              </a:spcBef>
              <a:buFont typeface="+mj-lt"/>
              <a:buAutoNum type="arabicParenR"/>
              <a:defRPr sz="2000">
                <a:solidFill>
                  <a:schemeClr val="bg1"/>
                </a:solidFill>
                <a:latin typeface="+mn-lt"/>
              </a:defRPr>
            </a:lvl3pPr>
            <a:lvl4pPr marL="1920240" indent="-530352">
              <a:spcBef>
                <a:spcPts val="1000"/>
              </a:spcBef>
              <a:buFont typeface="+mj-lt"/>
              <a:buAutoNum type="alphaLcParenR"/>
              <a:defRPr sz="2000">
                <a:solidFill>
                  <a:schemeClr val="bg1"/>
                </a:solidFill>
                <a:latin typeface="+mn-lt"/>
              </a:defRPr>
            </a:lvl4pPr>
            <a:lvl5pPr marL="2560320" indent="-514350">
              <a:spcBef>
                <a:spcPts val="1000"/>
              </a:spcBef>
              <a:buFont typeface="+mj-lt"/>
              <a:buAutoNum type="romanLcPeriod"/>
              <a:defRPr sz="20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435B7D5-E7F8-1267-8942-3C97BE836B98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283235" y="2023984"/>
            <a:ext cx="4663440" cy="333283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04266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hart 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ABA2A58C-57B7-834C-8F5C-3299322411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6200000">
            <a:off x="10772262" y="152641"/>
            <a:ext cx="1572380" cy="1267097"/>
            <a:chOff x="7413403" y="4976359"/>
            <a:chExt cx="2334986" cy="1881641"/>
          </a:xfrm>
        </p:grpSpPr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801D8067-144A-FE48-AF1E-529B662DCAD3}"/>
                </a:ext>
              </a:extLst>
            </p:cNvPr>
            <p:cNvSpPr/>
            <p:nvPr userDrawn="1"/>
          </p:nvSpPr>
          <p:spPr>
            <a:xfrm rot="5400000" flipH="1" flipV="1">
              <a:off x="8223822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2ECA7D87-C78C-C140-AA28-C0FB20209045}"/>
                </a:ext>
              </a:extLst>
            </p:cNvPr>
            <p:cNvSpPr/>
            <p:nvPr userDrawn="1"/>
          </p:nvSpPr>
          <p:spPr>
            <a:xfrm rot="16200000" flipV="1">
              <a:off x="7056329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136526"/>
            <a:ext cx="9779183" cy="1570038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67493" y="2084832"/>
            <a:ext cx="9779182" cy="3366813"/>
          </a:xfrm>
        </p:spPr>
        <p:txBody>
          <a:bodyPr>
            <a:noAutofit/>
          </a:bodyPr>
          <a:lstStyle>
            <a:lvl1pPr marL="0" indent="0">
              <a:buNone/>
              <a:defRPr>
                <a:latin typeface="+mn-lt"/>
              </a:defRPr>
            </a:lvl1pPr>
            <a:lvl2pPr marL="457200" indent="0">
              <a:buNone/>
              <a:defRPr>
                <a:latin typeface="+mn-lt"/>
              </a:defRPr>
            </a:lvl2pPr>
            <a:lvl3pPr marL="914400" indent="0">
              <a:buNone/>
              <a:defRPr>
                <a:latin typeface="+mn-lt"/>
              </a:defRPr>
            </a:lvl3pPr>
            <a:lvl4pPr marL="1371600" indent="0">
              <a:buNone/>
              <a:defRPr>
                <a:latin typeface="+mn-lt"/>
              </a:defRPr>
            </a:lvl4pPr>
            <a:lvl5pPr marL="1828800" indent="0">
              <a:buNone/>
              <a:defRPr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09451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78AD52EA-B01E-8D38-D87A-BF7EB5B58A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1"/>
            <a:ext cx="12192001" cy="6864796"/>
            <a:chOff x="0" y="-1"/>
            <a:chExt cx="12192001" cy="6864796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9AC79249-FDC0-364D-A734-AE1DE1605D28}"/>
                </a:ext>
              </a:extLst>
            </p:cNvPr>
            <p:cNvSpPr/>
            <p:nvPr userDrawn="1"/>
          </p:nvSpPr>
          <p:spPr>
            <a:xfrm>
              <a:off x="8264426" y="0"/>
              <a:ext cx="3927574" cy="6858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F15FBB50-09C8-B64E-AE57-67C5E70810CB}"/>
                </a:ext>
              </a:extLst>
            </p:cNvPr>
            <p:cNvGrpSpPr/>
            <p:nvPr userDrawn="1"/>
          </p:nvGrpSpPr>
          <p:grpSpPr>
            <a:xfrm>
              <a:off x="8264427" y="3685939"/>
              <a:ext cx="3927573" cy="3178856"/>
              <a:chOff x="9857014" y="13834"/>
              <a:chExt cx="2334986" cy="1881641"/>
            </a:xfrm>
          </p:grpSpPr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C68F289-2744-2F48-893A-3F17911625C8}"/>
                </a:ext>
              </a:extLst>
            </p:cNvPr>
            <p:cNvSpPr/>
            <p:nvPr userDrawn="1"/>
          </p:nvSpPr>
          <p:spPr>
            <a:xfrm>
              <a:off x="0" y="-1"/>
              <a:ext cx="1167493" cy="1167493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39563C76-BC00-DE47-88F5-C24D3CE3325A}"/>
                </a:ext>
              </a:extLst>
            </p:cNvPr>
            <p:cNvSpPr/>
            <p:nvPr userDrawn="1"/>
          </p:nvSpPr>
          <p:spPr>
            <a:xfrm>
              <a:off x="10228214" y="-1"/>
              <a:ext cx="1963787" cy="3178856"/>
            </a:xfrm>
            <a:custGeom>
              <a:avLst/>
              <a:gdLst>
                <a:gd name="connsiteX0" fmla="*/ 0 w 1963787"/>
                <a:gd name="connsiteY0" fmla="*/ 0 h 3178856"/>
                <a:gd name="connsiteX1" fmla="*/ 1963787 w 1963787"/>
                <a:gd name="connsiteY1" fmla="*/ 0 h 3178856"/>
                <a:gd name="connsiteX2" fmla="*/ 1963787 w 1963787"/>
                <a:gd name="connsiteY2" fmla="*/ 1967129 h 3178856"/>
                <a:gd name="connsiteX3" fmla="*/ 1963787 w 1963787"/>
                <a:gd name="connsiteY3" fmla="*/ 2349671 h 3178856"/>
                <a:gd name="connsiteX4" fmla="*/ 1963787 w 1963787"/>
                <a:gd name="connsiteY4" fmla="*/ 3178856 h 3178856"/>
                <a:gd name="connsiteX5" fmla="*/ 1963753 w 1963787"/>
                <a:gd name="connsiteY5" fmla="*/ 3178856 h 3178856"/>
                <a:gd name="connsiteX6" fmla="*/ 1763002 w 1963787"/>
                <a:gd name="connsiteY6" fmla="*/ 3168629 h 3178856"/>
                <a:gd name="connsiteX7" fmla="*/ 0 w 1963787"/>
                <a:gd name="connsiteY7" fmla="*/ 1197921 h 3178856"/>
                <a:gd name="connsiteX8" fmla="*/ 0 w 1963787"/>
                <a:gd name="connsiteY8" fmla="*/ 1039961 h 3178856"/>
                <a:gd name="connsiteX9" fmla="*/ 0 w 1963787"/>
                <a:gd name="connsiteY9" fmla="*/ 0 h 3178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963787" h="3178856">
                  <a:moveTo>
                    <a:pt x="0" y="0"/>
                  </a:moveTo>
                  <a:lnTo>
                    <a:pt x="1963787" y="0"/>
                  </a:lnTo>
                  <a:lnTo>
                    <a:pt x="1963787" y="1967129"/>
                  </a:lnTo>
                  <a:lnTo>
                    <a:pt x="1963787" y="2349671"/>
                  </a:lnTo>
                  <a:lnTo>
                    <a:pt x="1963787" y="3178856"/>
                  </a:lnTo>
                  <a:lnTo>
                    <a:pt x="1963753" y="3178856"/>
                  </a:lnTo>
                  <a:lnTo>
                    <a:pt x="1763002" y="3168629"/>
                  </a:lnTo>
                  <a:cubicBezTo>
                    <a:pt x="772749" y="3067186"/>
                    <a:pt x="0" y="2223585"/>
                    <a:pt x="0" y="1197921"/>
                  </a:cubicBezTo>
                  <a:lnTo>
                    <a:pt x="0" y="1039961"/>
                  </a:lnTo>
                  <a:lnTo>
                    <a:pt x="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4" y="252549"/>
            <a:ext cx="6220278" cy="3262811"/>
          </a:xfrm>
        </p:spPr>
        <p:txBody>
          <a:bodyPr anchor="b">
            <a:noAutofit/>
          </a:bodyPr>
          <a:lstStyle>
            <a:lvl1pPr algn="l">
              <a:defRPr sz="60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7493" y="3685939"/>
            <a:ext cx="6220277" cy="2919512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28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544706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825625"/>
            <a:ext cx="114300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77A09-15C2-4E47-948E-AACAFCA47D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67522-C3B6-46EB-A361-BEC2510B00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C57CF0-034F-450D-937C-718D5AF1A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1" r:id="rId3"/>
    <p:sldLayoutId id="2147483659" r:id="rId4"/>
    <p:sldLayoutId id="2147483668" r:id="rId5"/>
    <p:sldLayoutId id="2147483669" r:id="rId6"/>
    <p:sldLayoutId id="2147483661" r:id="rId7"/>
    <p:sldLayoutId id="2147483666" r:id="rId8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40" userDrawn="1">
          <p15:clr>
            <a:srgbClr val="547EBF"/>
          </p15:clr>
        </p15:guide>
        <p15:guide id="4" orient="horz" pos="240" userDrawn="1">
          <p15:clr>
            <a:srgbClr val="547EBF"/>
          </p15:clr>
        </p15:guide>
        <p15:guide id="5" pos="7440" userDrawn="1">
          <p15:clr>
            <a:srgbClr val="547EBF"/>
          </p15:clr>
        </p15:guide>
        <p15:guide id="6" orient="horz" pos="4080" userDrawn="1">
          <p15:clr>
            <a:srgbClr val="547EBF"/>
          </p15:clr>
        </p15:guide>
        <p15:guide id="7" pos="3960" userDrawn="1">
          <p15:clr>
            <a:srgbClr val="547EBF"/>
          </p15:clr>
        </p15:guide>
        <p15:guide id="8" pos="3720" userDrawn="1">
          <p15:clr>
            <a:srgbClr val="547EBF"/>
          </p15:clr>
        </p15:guide>
        <p15:guide id="9" pos="2112" userDrawn="1">
          <p15:clr>
            <a:srgbClr val="547EBF"/>
          </p15:clr>
        </p15:guide>
        <p15:guide id="10" pos="1848" userDrawn="1">
          <p15:clr>
            <a:srgbClr val="547EBF"/>
          </p15:clr>
        </p15:guide>
        <p15:guide id="11" pos="5568" userDrawn="1">
          <p15:clr>
            <a:srgbClr val="547EBF"/>
          </p15:clr>
        </p15:guide>
        <p15:guide id="12" pos="5832" userDrawn="1">
          <p15:clr>
            <a:srgbClr val="547EBF"/>
          </p15:clr>
        </p15:guide>
        <p15:guide id="13" pos="4968" userDrawn="1">
          <p15:clr>
            <a:srgbClr val="9FCC3B"/>
          </p15:clr>
        </p15:guide>
        <p15:guide id="14" pos="5208" userDrawn="1">
          <p15:clr>
            <a:srgbClr val="9FCC3B"/>
          </p15:clr>
        </p15:guide>
        <p15:guide id="15" pos="2712" userDrawn="1">
          <p15:clr>
            <a:srgbClr val="9FCC3B"/>
          </p15:clr>
        </p15:guide>
        <p15:guide id="16" pos="2472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F3D98-3C30-4CFC-8643-C81E829C8C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225" y="1106311"/>
            <a:ext cx="8326463" cy="2551289"/>
          </a:xfrm>
        </p:spPr>
        <p:txBody>
          <a:bodyPr/>
          <a:lstStyle/>
          <a:p>
            <a:r>
              <a:rPr lang="en-US" sz="4800" dirty="0"/>
              <a:t>Discussion on Idea of </a:t>
            </a:r>
            <a:r>
              <a:rPr lang="en-US" sz="4800" i="0" dirty="0">
                <a:solidFill>
                  <a:srgbClr val="3B3B3B"/>
                </a:solidFill>
                <a:effectLst/>
              </a:rPr>
              <a:t>Efficient RL with LLM Integration for Power Grid Control</a:t>
            </a:r>
            <a:endParaRPr lang="en-US" sz="4800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137933D4-A0B7-4878-8020-1E145A0B20C6}"/>
              </a:ext>
            </a:extLst>
          </p:cNvPr>
          <p:cNvSpPr txBox="1">
            <a:spLocks/>
          </p:cNvSpPr>
          <p:nvPr/>
        </p:nvSpPr>
        <p:spPr>
          <a:xfrm>
            <a:off x="2561671" y="4775199"/>
            <a:ext cx="8326463" cy="173188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6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/>
              <a:t>Presenter : Shoaib Ahmad</a:t>
            </a:r>
          </a:p>
        </p:txBody>
      </p:sp>
    </p:spTree>
    <p:extLst>
      <p:ext uri="{BB962C8B-B14F-4D97-AF65-F5344CB8AC3E}">
        <p14:creationId xmlns:p14="http://schemas.microsoft.com/office/powerpoint/2010/main" val="22593088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DF434-28DB-4621-A497-D62C41CE0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3028" y="84093"/>
            <a:ext cx="9779183" cy="1126144"/>
          </a:xfrm>
        </p:spPr>
        <p:txBody>
          <a:bodyPr/>
          <a:lstStyle/>
          <a:p>
            <a:r>
              <a:rPr lang="en-US" dirty="0"/>
              <a:t>Challenges in Modern Power Grid Control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788C46-D0BC-4307-AE55-7601A139E7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8865" y="2017467"/>
            <a:ext cx="9779182" cy="3366815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Safety</a:t>
            </a:r>
            <a:r>
              <a:rPr lang="en-US" dirty="0"/>
              <a:t> </a:t>
            </a:r>
            <a:r>
              <a:rPr lang="en-US" sz="2800" dirty="0"/>
              <a:t> </a:t>
            </a:r>
            <a:r>
              <a:rPr lang="en-US" dirty="0"/>
              <a:t>(C</a:t>
            </a:r>
            <a:r>
              <a:rPr lang="en-US" sz="2800" dirty="0"/>
              <a:t>ascading failures)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en-US" sz="2800" dirty="0"/>
              <a:t>Economics (generation, losses, redispatch)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Complexity (Lack of Realtime Decisions)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sz="2800" dirty="0"/>
              <a:t>Traditional Methods:</a:t>
            </a:r>
          </a:p>
          <a:p>
            <a:r>
              <a:rPr lang="en-US" sz="2800" dirty="0"/>
              <a:t>• Rule-based systems → inflexible</a:t>
            </a:r>
          </a:p>
          <a:p>
            <a:r>
              <a:rPr lang="en-US" sz="2800" dirty="0"/>
              <a:t>• Pure optimization → too slow for real-time control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3256085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DF434-28DB-4621-A497-D62C41CE0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3027" y="164775"/>
            <a:ext cx="9779183" cy="1036495"/>
          </a:xfrm>
        </p:spPr>
        <p:txBody>
          <a:bodyPr/>
          <a:lstStyle/>
          <a:p>
            <a:r>
              <a:rPr lang="en-US" sz="4000" i="0" dirty="0" err="1">
                <a:solidFill>
                  <a:srgbClr val="3B3B3B"/>
                </a:solidFill>
                <a:effectLst/>
                <a:latin typeface="Segoe WPC"/>
              </a:rPr>
              <a:t>EffiRL</a:t>
            </a:r>
            <a:r>
              <a:rPr lang="en-US" sz="4000" i="0" dirty="0">
                <a:solidFill>
                  <a:srgbClr val="3B3B3B"/>
                </a:solidFill>
                <a:effectLst/>
                <a:latin typeface="Segoe WPC"/>
              </a:rPr>
              <a:t> : System Architecture Overview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49AFA1B-878E-46E6-ACF1-4A692C2E05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9307705"/>
              </p:ext>
            </p:extLst>
          </p:nvPr>
        </p:nvGraphicFramePr>
        <p:xfrm>
          <a:off x="1023168" y="1359459"/>
          <a:ext cx="9868950" cy="4248717"/>
        </p:xfrm>
        <a:graphic>
          <a:graphicData uri="http://schemas.openxmlformats.org/drawingml/2006/table">
            <a:tbl>
              <a:tblPr/>
              <a:tblGrid>
                <a:gridCol w="1644825">
                  <a:extLst>
                    <a:ext uri="{9D8B030D-6E8A-4147-A177-3AD203B41FA5}">
                      <a16:colId xmlns:a16="http://schemas.microsoft.com/office/drawing/2014/main" val="4014027741"/>
                    </a:ext>
                  </a:extLst>
                </a:gridCol>
                <a:gridCol w="1644825">
                  <a:extLst>
                    <a:ext uri="{9D8B030D-6E8A-4147-A177-3AD203B41FA5}">
                      <a16:colId xmlns:a16="http://schemas.microsoft.com/office/drawing/2014/main" val="3279670716"/>
                    </a:ext>
                  </a:extLst>
                </a:gridCol>
                <a:gridCol w="1644825">
                  <a:extLst>
                    <a:ext uri="{9D8B030D-6E8A-4147-A177-3AD203B41FA5}">
                      <a16:colId xmlns:a16="http://schemas.microsoft.com/office/drawing/2014/main" val="1770604017"/>
                    </a:ext>
                  </a:extLst>
                </a:gridCol>
                <a:gridCol w="1644825">
                  <a:extLst>
                    <a:ext uri="{9D8B030D-6E8A-4147-A177-3AD203B41FA5}">
                      <a16:colId xmlns:a16="http://schemas.microsoft.com/office/drawing/2014/main" val="2360483416"/>
                    </a:ext>
                  </a:extLst>
                </a:gridCol>
                <a:gridCol w="1644825">
                  <a:extLst>
                    <a:ext uri="{9D8B030D-6E8A-4147-A177-3AD203B41FA5}">
                      <a16:colId xmlns:a16="http://schemas.microsoft.com/office/drawing/2014/main" val="1242645111"/>
                    </a:ext>
                  </a:extLst>
                </a:gridCol>
                <a:gridCol w="1644825">
                  <a:extLst>
                    <a:ext uri="{9D8B030D-6E8A-4147-A177-3AD203B41FA5}">
                      <a16:colId xmlns:a16="http://schemas.microsoft.com/office/drawing/2014/main" val="2910986605"/>
                    </a:ext>
                  </a:extLst>
                </a:gridCol>
              </a:tblGrid>
              <a:tr h="452860"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b="1">
                          <a:solidFill>
                            <a:srgbClr val="3B3B3B"/>
                          </a:solidFill>
                          <a:effectLst/>
                        </a:rPr>
                        <a:t>Layer</a:t>
                      </a:r>
                      <a:endParaRPr lang="en-US" sz="1300" b="1" dirty="0">
                        <a:solidFill>
                          <a:srgbClr val="3B3B3B"/>
                        </a:solidFill>
                        <a:effectLst/>
                      </a:endParaRPr>
                    </a:p>
                  </a:txBody>
                  <a:tcPr marL="66944" marR="66944" marT="33472" marB="33472" anchor="ctr">
                    <a:lnL w="7620" cap="flat" cmpd="sng" algn="ctr">
                      <a:solidFill>
                        <a:srgbClr val="E01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01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01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b="1">
                          <a:solidFill>
                            <a:srgbClr val="3B3B3B"/>
                          </a:solidFill>
                          <a:effectLst/>
                        </a:rPr>
                        <a:t>Component</a:t>
                      </a:r>
                      <a:endParaRPr lang="en-US" sz="1300" b="1" dirty="0">
                        <a:solidFill>
                          <a:srgbClr val="3B3B3B"/>
                        </a:solidFill>
                        <a:effectLst/>
                      </a:endParaRPr>
                    </a:p>
                  </a:txBody>
                  <a:tcPr marL="66944" marR="66944" marT="33472" marB="33472" anchor="ctr">
                    <a:lnL w="7620" cap="flat" cmpd="sng" algn="ctr">
                      <a:solidFill>
                        <a:srgbClr val="201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03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01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0E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b="1" dirty="0">
                          <a:solidFill>
                            <a:srgbClr val="3B3B3B"/>
                          </a:solidFill>
                          <a:effectLst/>
                        </a:rPr>
                        <a:t>Purpose</a:t>
                      </a:r>
                    </a:p>
                  </a:txBody>
                  <a:tcPr marL="66944" marR="66944" marT="33472" marB="33472" anchor="ctr">
                    <a:lnL w="7620" cap="flat" cmpd="sng" algn="ctr">
                      <a:solidFill>
                        <a:srgbClr val="E03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604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03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00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b="1" dirty="0">
                          <a:solidFill>
                            <a:srgbClr val="3B3B3B"/>
                          </a:solidFill>
                          <a:effectLst/>
                        </a:rPr>
                        <a:t>Input</a:t>
                      </a:r>
                    </a:p>
                  </a:txBody>
                  <a:tcPr marL="66944" marR="66944" marT="33472" marB="33472" anchor="ctr">
                    <a:lnL w="7620" cap="flat" cmpd="sng" algn="ctr">
                      <a:solidFill>
                        <a:srgbClr val="604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04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604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00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b="1" dirty="0">
                          <a:solidFill>
                            <a:srgbClr val="3B3B3B"/>
                          </a:solidFill>
                          <a:effectLst/>
                        </a:rPr>
                        <a:t>Output</a:t>
                      </a:r>
                    </a:p>
                  </a:txBody>
                  <a:tcPr marL="66944" marR="66944" marT="33472" marB="33472" anchor="ctr">
                    <a:lnL w="7620" cap="flat" cmpd="sng" algn="ctr">
                      <a:solidFill>
                        <a:srgbClr val="204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0B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04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04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b="1" dirty="0">
                          <a:solidFill>
                            <a:srgbClr val="3B3B3B"/>
                          </a:solidFill>
                          <a:effectLst/>
                        </a:rPr>
                        <a:t>Result Achieved</a:t>
                      </a:r>
                    </a:p>
                  </a:txBody>
                  <a:tcPr marL="66944" marR="66944" marT="33472" marB="33472" anchor="ctr">
                    <a:lnL w="7620" cap="flat" cmpd="sng" algn="ctr">
                      <a:solidFill>
                        <a:srgbClr val="A0B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0B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0B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0B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7577536"/>
                  </a:ext>
                </a:extLst>
              </a:tr>
              <a:tr h="455152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300" b="1">
                          <a:effectLst/>
                        </a:rPr>
                        <a:t>1. Environment</a:t>
                      </a:r>
                      <a:endParaRPr lang="en-US" sz="1300" dirty="0">
                        <a:effectLst/>
                      </a:endParaRPr>
                    </a:p>
                  </a:txBody>
                  <a:tcPr marL="66944" marR="66944" marT="33472" marB="33472" anchor="ctr">
                    <a:lnL w="7620" cap="flat" cmpd="sng" algn="ctr">
                      <a:solidFill>
                        <a:srgbClr val="E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0E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0A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300">
                          <a:effectLst/>
                        </a:rPr>
                        <a:t>Grid2Op Simulator</a:t>
                      </a:r>
                      <a:endParaRPr lang="en-US" sz="1300" dirty="0">
                        <a:effectLst/>
                      </a:endParaRPr>
                    </a:p>
                  </a:txBody>
                  <a:tcPr marL="66944" marR="66944" marT="33472" marB="33472" anchor="ctr">
                    <a:lnL w="7620" cap="flat" cmpd="sng" algn="ctr">
                      <a:solidFill>
                        <a:srgbClr val="A0E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00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0E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300">
                          <a:effectLst/>
                        </a:rPr>
                        <a:t>Power grid physics</a:t>
                      </a:r>
                    </a:p>
                  </a:txBody>
                  <a:tcPr marL="66944" marR="66944" marT="33472" marB="33472" anchor="ctr">
                    <a:lnL w="7620" cap="flat" cmpd="sng" algn="ctr">
                      <a:solidFill>
                        <a:srgbClr val="A00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00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00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70C3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300">
                          <a:effectLst/>
                        </a:rPr>
                        <a:t>Actions</a:t>
                      </a:r>
                    </a:p>
                  </a:txBody>
                  <a:tcPr marL="66944" marR="66944" marT="33472" marB="33472" anchor="ctr">
                    <a:lnL w="7620" cap="flat" cmpd="sng" algn="ctr">
                      <a:solidFill>
                        <a:srgbClr val="A00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04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00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0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300">
                          <a:effectLst/>
                        </a:rPr>
                        <a:t>States, Rewards</a:t>
                      </a:r>
                    </a:p>
                  </a:txBody>
                  <a:tcPr marL="66944" marR="66944" marT="33472" marB="33472" anchor="ctr">
                    <a:lnL w="7620" cap="flat" cmpd="sng" algn="ctr">
                      <a:solidFill>
                        <a:srgbClr val="A04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0B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04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0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300" dirty="0">
                          <a:effectLst/>
                        </a:rPr>
                        <a:t>Realistic power flow simulation</a:t>
                      </a:r>
                    </a:p>
                  </a:txBody>
                  <a:tcPr marL="66944" marR="66944" marT="33472" marB="33472" anchor="ctr">
                    <a:lnL w="7620" cap="flat" cmpd="sng" algn="ctr">
                      <a:solidFill>
                        <a:srgbClr val="A0B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0B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0B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70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0945087"/>
                  </a:ext>
                </a:extLst>
              </a:tr>
              <a:tr h="841026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300" b="1">
                          <a:effectLst/>
                        </a:rPr>
                        <a:t>2. Reward System</a:t>
                      </a:r>
                      <a:endParaRPr lang="en-US" sz="1300">
                        <a:effectLst/>
                      </a:endParaRPr>
                    </a:p>
                  </a:txBody>
                  <a:tcPr marL="66944" marR="66944" marT="33472" marB="33472" anchor="ctr">
                    <a:lnL w="7620" cap="flat" cmpd="sng" algn="ctr">
                      <a:solidFill>
                        <a:srgbClr val="B0A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0A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0F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300">
                          <a:effectLst/>
                        </a:rPr>
                        <a:t>Multi-objective function</a:t>
                      </a:r>
                      <a:endParaRPr lang="en-US" sz="1300" dirty="0">
                        <a:effectLst/>
                      </a:endParaRPr>
                    </a:p>
                  </a:txBody>
                  <a:tcPr marL="66944" marR="66944" marT="33472" marB="33472" anchor="ctr">
                    <a:lnL w="7620" cap="flat" cmpd="sng" algn="ctr">
                      <a:solidFill>
                        <a:srgbClr val="F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70C3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0F7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300">
                          <a:effectLst/>
                        </a:rPr>
                        <a:t>Guide agent behavior</a:t>
                      </a:r>
                    </a:p>
                  </a:txBody>
                  <a:tcPr marL="66944" marR="66944" marT="33472" marB="33472" anchor="ctr">
                    <a:lnL w="7620" cap="flat" cmpd="sng" algn="ctr">
                      <a:solidFill>
                        <a:srgbClr val="70C3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0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70C3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0F6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300">
                          <a:effectLst/>
                        </a:rPr>
                        <a:t>Grid state</a:t>
                      </a:r>
                    </a:p>
                  </a:txBody>
                  <a:tcPr marL="66944" marR="66944" marT="33472" marB="33472" anchor="ctr">
                    <a:lnL w="7620" cap="flat" cmpd="sng" algn="ctr">
                      <a:solidFill>
                        <a:srgbClr val="B0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0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0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0F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300">
                          <a:effectLst/>
                        </a:rPr>
                        <a:t>Scalar reward</a:t>
                      </a:r>
                    </a:p>
                  </a:txBody>
                  <a:tcPr marL="66944" marR="66944" marT="33472" marB="33472" anchor="ctr">
                    <a:lnL w="7620" cap="flat" cmpd="sng" algn="ctr">
                      <a:solidFill>
                        <a:srgbClr val="30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70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0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0F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300" dirty="0">
                          <a:effectLst/>
                        </a:rPr>
                        <a:t>Balances safety + economics + survival</a:t>
                      </a:r>
                    </a:p>
                  </a:txBody>
                  <a:tcPr marL="66944" marR="66944" marT="33472" marB="33472" anchor="ctr">
                    <a:lnL w="7620" cap="flat" cmpd="sng" algn="ctr">
                      <a:solidFill>
                        <a:srgbClr val="70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70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70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0F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8329693"/>
                  </a:ext>
                </a:extLst>
              </a:tr>
              <a:tr h="455152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300" b="1">
                          <a:effectLst/>
                        </a:rPr>
                        <a:t>3. Observation</a:t>
                      </a:r>
                      <a:endParaRPr lang="en-US" sz="1300">
                        <a:effectLst/>
                      </a:endParaRPr>
                    </a:p>
                  </a:txBody>
                  <a:tcPr marL="66944" marR="66944" marT="33472" marB="33472" anchor="ctr">
                    <a:lnL w="7620" cap="flat" cmpd="sng" algn="ctr">
                      <a:solidFill>
                        <a:srgbClr val="30F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0F7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0F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00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300">
                          <a:effectLst/>
                        </a:rPr>
                        <a:t>State representation</a:t>
                      </a:r>
                    </a:p>
                  </a:txBody>
                  <a:tcPr marL="66944" marR="66944" marT="33472" marB="33472" anchor="ctr">
                    <a:lnL w="7620" cap="flat" cmpd="sng" algn="ctr">
                      <a:solidFill>
                        <a:srgbClr val="30F7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0F6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0F7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00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300">
                          <a:effectLst/>
                        </a:rPr>
                        <a:t>What agent sees</a:t>
                      </a:r>
                    </a:p>
                  </a:txBody>
                  <a:tcPr marL="66944" marR="66944" marT="33472" marB="33472" anchor="ctr">
                    <a:lnL w="7620" cap="flat" cmpd="sng" algn="ctr">
                      <a:solidFill>
                        <a:srgbClr val="F0F6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0F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0F6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701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300">
                          <a:effectLst/>
                        </a:rPr>
                        <a:t>Grid2Op obs</a:t>
                      </a:r>
                    </a:p>
                  </a:txBody>
                  <a:tcPr marL="66944" marR="66944" marT="33472" marB="33472" anchor="ctr">
                    <a:lnL w="7620" cap="flat" cmpd="sng" algn="ctr">
                      <a:solidFill>
                        <a:srgbClr val="F0F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0F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0F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04C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300">
                          <a:effectLst/>
                        </a:rPr>
                        <a:t>Vector (288-dim)</a:t>
                      </a:r>
                    </a:p>
                  </a:txBody>
                  <a:tcPr marL="66944" marR="66944" marT="33472" marB="33472" anchor="ctr">
                    <a:lnL w="7620" cap="flat" cmpd="sng" algn="ctr">
                      <a:solidFill>
                        <a:srgbClr val="F0F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0F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0F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04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300" dirty="0">
                          <a:effectLst/>
                        </a:rPr>
                        <a:t>Line flows, voltages, costs</a:t>
                      </a:r>
                    </a:p>
                  </a:txBody>
                  <a:tcPr marL="66944" marR="66944" marT="33472" marB="33472" anchor="ctr">
                    <a:lnL w="7620" cap="flat" cmpd="sng" algn="ctr">
                      <a:solidFill>
                        <a:srgbClr val="30F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0F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0F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705E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8983525"/>
                  </a:ext>
                </a:extLst>
              </a:tr>
              <a:tr h="646943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300" b="1">
                          <a:effectLst/>
                        </a:rPr>
                        <a:t>4. Action Space</a:t>
                      </a:r>
                      <a:endParaRPr lang="en-US" sz="1300">
                        <a:effectLst/>
                      </a:endParaRPr>
                    </a:p>
                  </a:txBody>
                  <a:tcPr marL="66944" marR="66944" marT="33472" marB="33472" anchor="ctr">
                    <a:lnL w="7620" cap="flat" cmpd="sng" algn="ctr">
                      <a:solidFill>
                        <a:srgbClr val="B00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00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00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0B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300">
                          <a:effectLst/>
                        </a:rPr>
                        <a:t>Discrete actions</a:t>
                      </a:r>
                    </a:p>
                  </a:txBody>
                  <a:tcPr marL="66944" marR="66944" marT="33472" marB="33472" anchor="ctr">
                    <a:lnL w="7620" cap="flat" cmpd="sng" algn="ctr">
                      <a:solidFill>
                        <a:srgbClr val="300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701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00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70CE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300">
                          <a:effectLst/>
                        </a:rPr>
                        <a:t>What agent can do</a:t>
                      </a:r>
                    </a:p>
                  </a:txBody>
                  <a:tcPr marL="66944" marR="66944" marT="33472" marB="33472" anchor="ctr">
                    <a:lnL w="7620" cap="flat" cmpd="sng" algn="ctr">
                      <a:solidFill>
                        <a:srgbClr val="701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04C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701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0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300">
                          <a:effectLst/>
                        </a:rPr>
                        <a:t>Policy output</a:t>
                      </a:r>
                    </a:p>
                  </a:txBody>
                  <a:tcPr marL="66944" marR="66944" marT="33472" marB="33472" anchor="ctr">
                    <a:lnL w="7620" cap="flat" cmpd="sng" algn="ctr">
                      <a:solidFill>
                        <a:srgbClr val="F04C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04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04C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0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300">
                          <a:effectLst/>
                        </a:rPr>
                        <a:t>Grid2Op action</a:t>
                      </a:r>
                    </a:p>
                  </a:txBody>
                  <a:tcPr marL="66944" marR="66944" marT="33472" marB="33472" anchor="ctr">
                    <a:lnL w="7620" cap="flat" cmpd="sng" algn="ctr">
                      <a:solidFill>
                        <a:srgbClr val="304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705E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04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0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300" dirty="0">
                          <a:effectLst/>
                        </a:rPr>
                        <a:t>Topology + dispatch + storage</a:t>
                      </a:r>
                    </a:p>
                  </a:txBody>
                  <a:tcPr marL="66944" marR="66944" marT="33472" marB="33472" anchor="ctr">
                    <a:lnL w="7620" cap="flat" cmpd="sng" algn="ctr">
                      <a:solidFill>
                        <a:srgbClr val="705E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705E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705E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70DE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6722400"/>
                  </a:ext>
                </a:extLst>
              </a:tr>
              <a:tr h="455152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300" b="1">
                          <a:effectLst/>
                        </a:rPr>
                        <a:t>5. Policy Network</a:t>
                      </a:r>
                      <a:endParaRPr lang="en-US" sz="1300">
                        <a:effectLst/>
                      </a:endParaRPr>
                    </a:p>
                  </a:txBody>
                  <a:tcPr marL="66944" marR="66944" marT="33472" marB="33472" anchor="ctr">
                    <a:lnL w="7620" cap="flat" cmpd="sng" algn="ctr">
                      <a:solidFill>
                        <a:srgbClr val="30B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70CE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0B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0D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300">
                          <a:effectLst/>
                        </a:rPr>
                        <a:t>Actor-Critic NN</a:t>
                      </a:r>
                    </a:p>
                  </a:txBody>
                  <a:tcPr marL="66944" marR="66944" marT="33472" marB="33472" anchor="ctr">
                    <a:lnL w="7620" cap="flat" cmpd="sng" algn="ctr">
                      <a:solidFill>
                        <a:srgbClr val="70CE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0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70CE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0D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300">
                          <a:effectLst/>
                        </a:rPr>
                        <a:t>Decision making</a:t>
                      </a:r>
                    </a:p>
                  </a:txBody>
                  <a:tcPr marL="66944" marR="66944" marT="33472" marB="33472" anchor="ctr">
                    <a:lnL w="7620" cap="flat" cmpd="sng" algn="ctr">
                      <a:solidFill>
                        <a:srgbClr val="30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0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0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0D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300">
                          <a:effectLst/>
                        </a:rPr>
                        <a:t>Observation</a:t>
                      </a:r>
                    </a:p>
                  </a:txBody>
                  <a:tcPr marL="66944" marR="66944" marT="33472" marB="33472" anchor="ctr">
                    <a:lnL w="7620" cap="flat" cmpd="sng" algn="ctr">
                      <a:solidFill>
                        <a:srgbClr val="F0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0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0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0D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300">
                          <a:effectLst/>
                        </a:rPr>
                        <a:t>Action probabilities</a:t>
                      </a:r>
                    </a:p>
                  </a:txBody>
                  <a:tcPr marL="66944" marR="66944" marT="33472" marB="33472" anchor="ctr">
                    <a:lnL w="7620" cap="flat" cmpd="sng" algn="ctr">
                      <a:solidFill>
                        <a:srgbClr val="F0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70DE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0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0E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300" dirty="0">
                          <a:effectLst/>
                        </a:rPr>
                        <a:t>Learns optimal control</a:t>
                      </a:r>
                    </a:p>
                  </a:txBody>
                  <a:tcPr marL="66944" marR="66944" marT="33472" marB="33472" anchor="ctr">
                    <a:lnL w="7620" cap="flat" cmpd="sng" algn="ctr">
                      <a:solidFill>
                        <a:srgbClr val="70DE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70DE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70DE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0EC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6969221"/>
                  </a:ext>
                </a:extLst>
              </a:tr>
              <a:tr h="455152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300" b="1">
                          <a:effectLst/>
                        </a:rPr>
                        <a:t>6. Training Algorithm</a:t>
                      </a:r>
                      <a:endParaRPr lang="en-US" sz="1300">
                        <a:effectLst/>
                      </a:endParaRPr>
                    </a:p>
                  </a:txBody>
                  <a:tcPr marL="66944" marR="66944" marT="33472" marB="33472" anchor="ctr">
                    <a:lnL w="7620" cap="flat" cmpd="sng" algn="ctr">
                      <a:solidFill>
                        <a:srgbClr val="B0D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0D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0D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0EA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300">
                          <a:effectLst/>
                        </a:rPr>
                        <a:t>PPO</a:t>
                      </a:r>
                    </a:p>
                  </a:txBody>
                  <a:tcPr marL="66944" marR="66944" marT="33472" marB="33472" anchor="ctr">
                    <a:lnL w="7620" cap="flat" cmpd="sng" algn="ctr">
                      <a:solidFill>
                        <a:srgbClr val="F0D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0D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0D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0EE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300">
                          <a:effectLst/>
                        </a:rPr>
                        <a:t>Learn from experience</a:t>
                      </a:r>
                    </a:p>
                  </a:txBody>
                  <a:tcPr marL="66944" marR="66944" marT="33472" marB="33472" anchor="ctr">
                    <a:lnL w="7620" cap="flat" cmpd="sng" algn="ctr">
                      <a:solidFill>
                        <a:srgbClr val="30D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0D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0D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0E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300" dirty="0">
                          <a:effectLst/>
                        </a:rPr>
                        <a:t>Episodes</a:t>
                      </a:r>
                    </a:p>
                  </a:txBody>
                  <a:tcPr marL="66944" marR="66944" marT="33472" marB="33472" anchor="ctr">
                    <a:lnL w="7620" cap="flat" cmpd="sng" algn="ctr">
                      <a:solidFill>
                        <a:srgbClr val="B0D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0E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0D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70FE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300" dirty="0">
                          <a:effectLst/>
                        </a:rPr>
                        <a:t>Updated policy</a:t>
                      </a:r>
                    </a:p>
                  </a:txBody>
                  <a:tcPr marL="66944" marR="66944" marT="33472" marB="33472" anchor="ctr">
                    <a:lnL w="7620" cap="flat" cmpd="sng" algn="ctr">
                      <a:solidFill>
                        <a:srgbClr val="F0E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0EC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0E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0F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300" dirty="0">
                          <a:effectLst/>
                        </a:rPr>
                        <a:t>Converges to safe operation</a:t>
                      </a:r>
                    </a:p>
                  </a:txBody>
                  <a:tcPr marL="66944" marR="66944" marT="33472" marB="33472" anchor="ctr">
                    <a:lnL w="7620" cap="flat" cmpd="sng" algn="ctr">
                      <a:solidFill>
                        <a:srgbClr val="F0EC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0EC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0EC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700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14841"/>
                  </a:ext>
                </a:extLst>
              </a:tr>
              <a:tr h="455152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300" b="1">
                          <a:effectLst/>
                        </a:rPr>
                        <a:t>7. LLM Integration</a:t>
                      </a:r>
                      <a:endParaRPr lang="en-US" sz="1300">
                        <a:effectLst/>
                      </a:endParaRPr>
                    </a:p>
                  </a:txBody>
                  <a:tcPr marL="66944" marR="66944" marT="33472" marB="33472" anchor="ctr">
                    <a:lnL w="7620" cap="flat" cmpd="sng" algn="ctr">
                      <a:solidFill>
                        <a:srgbClr val="30EA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0EE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0EA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0EA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300">
                          <a:effectLst/>
                        </a:rPr>
                        <a:t>Gemini API</a:t>
                      </a:r>
                    </a:p>
                  </a:txBody>
                  <a:tcPr marL="66944" marR="66944" marT="33472" marB="33472" anchor="ctr">
                    <a:lnL w="7620" cap="flat" cmpd="sng" algn="ctr">
                      <a:solidFill>
                        <a:srgbClr val="F0EE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0E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0EE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0EE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300" dirty="0">
                          <a:effectLst/>
                        </a:rPr>
                        <a:t>Domain knowledge</a:t>
                      </a:r>
                    </a:p>
                  </a:txBody>
                  <a:tcPr marL="66944" marR="66944" marT="33472" marB="33472" anchor="ctr">
                    <a:lnL w="7620" cap="flat" cmpd="sng" algn="ctr">
                      <a:solidFill>
                        <a:srgbClr val="B0E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70FE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0E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0E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300" dirty="0">
                          <a:effectLst/>
                        </a:rPr>
                        <a:t>Grid state text</a:t>
                      </a:r>
                    </a:p>
                  </a:txBody>
                  <a:tcPr marL="66944" marR="66944" marT="33472" marB="33472" anchor="ctr">
                    <a:lnL w="7620" cap="flat" cmpd="sng" algn="ctr">
                      <a:solidFill>
                        <a:srgbClr val="70FE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0F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70FE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70FE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300" dirty="0">
                          <a:effectLst/>
                        </a:rPr>
                        <a:t>Action suggestions</a:t>
                      </a:r>
                    </a:p>
                  </a:txBody>
                  <a:tcPr marL="66944" marR="66944" marT="33472" marB="33472" anchor="ctr">
                    <a:lnL w="7620" cap="flat" cmpd="sng" algn="ctr">
                      <a:solidFill>
                        <a:srgbClr val="B0F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700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0F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0F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300" dirty="0">
                          <a:effectLst/>
                        </a:rPr>
                        <a:t>Guides exploration</a:t>
                      </a:r>
                    </a:p>
                  </a:txBody>
                  <a:tcPr marL="66944" marR="66944" marT="33472" marB="33472" anchor="ctr">
                    <a:lnL w="7620" cap="flat" cmpd="sng" algn="ctr">
                      <a:solidFill>
                        <a:srgbClr val="700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700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700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700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04137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950216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DF434-28DB-4621-A497-D62C41CE0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3028" y="84093"/>
            <a:ext cx="9779183" cy="1126144"/>
          </a:xfrm>
        </p:spPr>
        <p:txBody>
          <a:bodyPr/>
          <a:lstStyle/>
          <a:p>
            <a:r>
              <a:rPr lang="en-US" dirty="0" err="1"/>
              <a:t>EffiRL</a:t>
            </a:r>
            <a:r>
              <a:rPr lang="en-US" dirty="0"/>
              <a:t> Framework: RL + LLM Synergy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788C46-D0BC-4307-AE55-7601A139E7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8865" y="2017467"/>
            <a:ext cx="9779182" cy="336681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800" dirty="0"/>
              <a:t>Three Control Strategies Compared: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Pure PPO (Baseline RL) – learns by trial and error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Pure LLM Control – Gemini directly operates the grid (no learning)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PPO + LLM Priors (Proposed) – LLM guides RL during training</a:t>
            </a:r>
          </a:p>
        </p:txBody>
      </p:sp>
    </p:spTree>
    <p:extLst>
      <p:ext uri="{BB962C8B-B14F-4D97-AF65-F5344CB8AC3E}">
        <p14:creationId xmlns:p14="http://schemas.microsoft.com/office/powerpoint/2010/main" val="32605914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DF434-28DB-4621-A497-D62C41CE0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3028" y="84093"/>
            <a:ext cx="9779183" cy="1126144"/>
          </a:xfrm>
        </p:spPr>
        <p:txBody>
          <a:bodyPr/>
          <a:lstStyle/>
          <a:p>
            <a:pPr algn="l"/>
            <a:r>
              <a:rPr lang="en-US" b="1" i="0" dirty="0">
                <a:solidFill>
                  <a:srgbClr val="3B3B3B"/>
                </a:solidFill>
                <a:effectLst/>
                <a:latin typeface="Segoe WPC"/>
              </a:rPr>
              <a:t>Training Process Breakdown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88CCD41-E5A5-4994-9360-FAFF5BCB7A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9555366"/>
              </p:ext>
            </p:extLst>
          </p:nvPr>
        </p:nvGraphicFramePr>
        <p:xfrm>
          <a:off x="1004046" y="1825624"/>
          <a:ext cx="10425954" cy="3787234"/>
        </p:xfrm>
        <a:graphic>
          <a:graphicData uri="http://schemas.openxmlformats.org/drawingml/2006/table">
            <a:tbl>
              <a:tblPr/>
              <a:tblGrid>
                <a:gridCol w="1737659">
                  <a:extLst>
                    <a:ext uri="{9D8B030D-6E8A-4147-A177-3AD203B41FA5}">
                      <a16:colId xmlns:a16="http://schemas.microsoft.com/office/drawing/2014/main" val="1169998260"/>
                    </a:ext>
                  </a:extLst>
                </a:gridCol>
                <a:gridCol w="1516530">
                  <a:extLst>
                    <a:ext uri="{9D8B030D-6E8A-4147-A177-3AD203B41FA5}">
                      <a16:colId xmlns:a16="http://schemas.microsoft.com/office/drawing/2014/main" val="2523488842"/>
                    </a:ext>
                  </a:extLst>
                </a:gridCol>
                <a:gridCol w="1958788">
                  <a:extLst>
                    <a:ext uri="{9D8B030D-6E8A-4147-A177-3AD203B41FA5}">
                      <a16:colId xmlns:a16="http://schemas.microsoft.com/office/drawing/2014/main" val="1670170538"/>
                    </a:ext>
                  </a:extLst>
                </a:gridCol>
                <a:gridCol w="1737659">
                  <a:extLst>
                    <a:ext uri="{9D8B030D-6E8A-4147-A177-3AD203B41FA5}">
                      <a16:colId xmlns:a16="http://schemas.microsoft.com/office/drawing/2014/main" val="3852916501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3249257864"/>
                    </a:ext>
                  </a:extLst>
                </a:gridCol>
                <a:gridCol w="2205318">
                  <a:extLst>
                    <a:ext uri="{9D8B030D-6E8A-4147-A177-3AD203B41FA5}">
                      <a16:colId xmlns:a16="http://schemas.microsoft.com/office/drawing/2014/main" val="3665170624"/>
                    </a:ext>
                  </a:extLst>
                </a:gridCol>
              </a:tblGrid>
              <a:tr h="442943"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b="1" dirty="0">
                          <a:solidFill>
                            <a:srgbClr val="3B3B3B"/>
                          </a:solidFill>
                          <a:effectLst/>
                        </a:rPr>
                        <a:t>Phase</a:t>
                      </a:r>
                    </a:p>
                  </a:txBody>
                  <a:tcPr marL="76339" marR="76339" marT="38170" marB="38170" anchor="b">
                    <a:lnL w="7620" cap="flat" cmpd="sng" algn="ctr">
                      <a:solidFill>
                        <a:srgbClr val="803C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8055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803C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805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b="1" dirty="0">
                          <a:solidFill>
                            <a:srgbClr val="3B3B3B"/>
                          </a:solidFill>
                          <a:effectLst/>
                        </a:rPr>
                        <a:t>Episode Range</a:t>
                      </a:r>
                    </a:p>
                  </a:txBody>
                  <a:tcPr marL="76339" marR="76339" marT="38170" marB="38170" anchor="b">
                    <a:lnL w="7620" cap="flat" cmpd="sng" algn="ctr">
                      <a:solidFill>
                        <a:srgbClr val="8055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056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8055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062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b="1" dirty="0">
                          <a:solidFill>
                            <a:srgbClr val="3B3B3B"/>
                          </a:solidFill>
                          <a:effectLst/>
                        </a:rPr>
                        <a:t>What Happens</a:t>
                      </a:r>
                    </a:p>
                  </a:txBody>
                  <a:tcPr marL="76339" marR="76339" marT="38170" marB="38170" anchor="b">
                    <a:lnL w="7620" cap="flat" cmpd="sng" algn="ctr">
                      <a:solidFill>
                        <a:srgbClr val="4056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056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056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805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b="1" dirty="0">
                          <a:solidFill>
                            <a:srgbClr val="3B3B3B"/>
                          </a:solidFill>
                          <a:effectLst/>
                        </a:rPr>
                        <a:t>Policy Behavior</a:t>
                      </a:r>
                    </a:p>
                  </a:txBody>
                  <a:tcPr marL="76339" marR="76339" marT="38170" marB="38170" anchor="b">
                    <a:lnL w="7620" cap="flat" cmpd="sng" algn="ctr">
                      <a:solidFill>
                        <a:srgbClr val="C056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50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056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806E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b="1" dirty="0">
                          <a:solidFill>
                            <a:srgbClr val="3B3B3B"/>
                          </a:solidFill>
                          <a:effectLst/>
                        </a:rPr>
                        <a:t>Reward Trend</a:t>
                      </a:r>
                    </a:p>
                  </a:txBody>
                  <a:tcPr marL="76339" marR="76339" marT="38170" marB="38170" anchor="b">
                    <a:lnL w="7620" cap="flat" cmpd="sng" algn="ctr">
                      <a:solidFill>
                        <a:srgbClr val="0050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055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50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078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b="1" dirty="0">
                          <a:solidFill>
                            <a:srgbClr val="3B3B3B"/>
                          </a:solidFill>
                          <a:effectLst/>
                        </a:rPr>
                        <a:t>Result</a:t>
                      </a:r>
                    </a:p>
                  </a:txBody>
                  <a:tcPr marL="76339" marR="76339" marT="38170" marB="38170" anchor="b">
                    <a:lnL w="7620" cap="flat" cmpd="sng" algn="ctr">
                      <a:solidFill>
                        <a:srgbClr val="C055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055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055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073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0069983"/>
                  </a:ext>
                </a:extLst>
              </a:tr>
              <a:tr h="632775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500" b="1">
                          <a:effectLst/>
                        </a:rPr>
                        <a:t>Random Exploration</a:t>
                      </a:r>
                      <a:endParaRPr lang="en-US" sz="1500">
                        <a:effectLst/>
                      </a:endParaRPr>
                    </a:p>
                  </a:txBody>
                  <a:tcPr marL="76339" marR="76339" marT="38170" marB="38170" anchor="ctr">
                    <a:lnL w="7620" cap="flat" cmpd="sng" algn="ctr">
                      <a:solidFill>
                        <a:srgbClr val="805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062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805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073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500">
                          <a:effectLst/>
                        </a:rPr>
                        <a:t>0-500</a:t>
                      </a:r>
                    </a:p>
                  </a:txBody>
                  <a:tcPr marL="76339" marR="76339" marT="38170" marB="38170" anchor="ctr">
                    <a:lnL w="7620" cap="flat" cmpd="sng" algn="ctr">
                      <a:solidFill>
                        <a:srgbClr val="4062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805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062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086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500">
                          <a:effectLst/>
                        </a:rPr>
                        <a:t>Agent explores randomly</a:t>
                      </a:r>
                    </a:p>
                  </a:txBody>
                  <a:tcPr marL="76339" marR="76339" marT="38170" marB="38170" anchor="ctr">
                    <a:lnL w="7620" cap="flat" cmpd="sng" algn="ctr">
                      <a:solidFill>
                        <a:srgbClr val="805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806E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805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07F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500" dirty="0">
                          <a:effectLst/>
                        </a:rPr>
                        <a:t>10-20% good actions</a:t>
                      </a:r>
                    </a:p>
                  </a:txBody>
                  <a:tcPr marL="76339" marR="76339" marT="38170" marB="38170" anchor="ctr">
                    <a:lnL w="7620" cap="flat" cmpd="sng" algn="ctr">
                      <a:solidFill>
                        <a:srgbClr val="806E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078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806E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080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500" dirty="0">
                          <a:effectLst/>
                        </a:rPr>
                        <a:t>-10 to 5</a:t>
                      </a:r>
                    </a:p>
                  </a:txBody>
                  <a:tcPr marL="76339" marR="76339" marT="38170" marB="38170" anchor="ctr">
                    <a:lnL w="7620" cap="flat" cmpd="sng" algn="ctr">
                      <a:solidFill>
                        <a:srgbClr val="4078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073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078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807D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500" dirty="0">
                          <a:effectLst/>
                        </a:rPr>
                        <a:t>Learning from failures</a:t>
                      </a:r>
                    </a:p>
                  </a:txBody>
                  <a:tcPr marL="76339" marR="76339" marT="38170" marB="38170" anchor="ctr">
                    <a:lnL w="7620" cap="flat" cmpd="sng" algn="ctr">
                      <a:solidFill>
                        <a:srgbClr val="4073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073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073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07C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4694218"/>
                  </a:ext>
                </a:extLst>
              </a:tr>
              <a:tr h="632775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500" b="1">
                          <a:effectLst/>
                        </a:rPr>
                        <a:t>Initial Learning</a:t>
                      </a:r>
                      <a:endParaRPr lang="en-US" sz="1500">
                        <a:effectLst/>
                      </a:endParaRPr>
                    </a:p>
                  </a:txBody>
                  <a:tcPr marL="76339" marR="76339" marT="38170" marB="38170" anchor="ctr">
                    <a:lnL w="7620" cap="flat" cmpd="sng" algn="ctr">
                      <a:solidFill>
                        <a:srgbClr val="C073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086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073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91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500">
                          <a:effectLst/>
                        </a:rPr>
                        <a:t>500-1500</a:t>
                      </a:r>
                    </a:p>
                  </a:txBody>
                  <a:tcPr marL="76339" marR="76339" marT="38170" marB="38170" anchor="ctr">
                    <a:lnL w="7620" cap="flat" cmpd="sng" algn="ctr">
                      <a:solidFill>
                        <a:srgbClr val="4086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07F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086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808C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500">
                          <a:effectLst/>
                        </a:rPr>
                        <a:t>Finds basic patterns</a:t>
                      </a:r>
                    </a:p>
                  </a:txBody>
                  <a:tcPr marL="76339" marR="76339" marT="38170" marB="38170" anchor="ctr">
                    <a:lnL w="7620" cap="flat" cmpd="sng" algn="ctr">
                      <a:solidFill>
                        <a:srgbClr val="407F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080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07F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09A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500">
                          <a:effectLst/>
                        </a:rPr>
                        <a:t>30-40% good actions</a:t>
                      </a:r>
                    </a:p>
                  </a:txBody>
                  <a:tcPr marL="76339" marR="76339" marT="38170" marB="38170" anchor="ctr">
                    <a:lnL w="7620" cap="flat" cmpd="sng" algn="ctr">
                      <a:solidFill>
                        <a:srgbClr val="4080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807D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080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A8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500">
                          <a:effectLst/>
                        </a:rPr>
                        <a:t>5 to 10</a:t>
                      </a:r>
                    </a:p>
                  </a:txBody>
                  <a:tcPr marL="76339" marR="76339" marT="38170" marB="38170" anchor="ctr">
                    <a:lnL w="7620" cap="flat" cmpd="sng" algn="ctr">
                      <a:solidFill>
                        <a:srgbClr val="807D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07C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807D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09B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500" dirty="0">
                          <a:effectLst/>
                        </a:rPr>
                        <a:t>Avoids obvious failures</a:t>
                      </a:r>
                    </a:p>
                  </a:txBody>
                  <a:tcPr marL="76339" marR="76339" marT="38170" marB="38170" anchor="ctr">
                    <a:lnL w="7620" cap="flat" cmpd="sng" algn="ctr">
                      <a:solidFill>
                        <a:srgbClr val="407C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07C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07C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809F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6763188"/>
                  </a:ext>
                </a:extLst>
              </a:tr>
              <a:tr h="632775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500" b="1">
                          <a:effectLst/>
                        </a:rPr>
                        <a:t>Rapid Improvement</a:t>
                      </a:r>
                      <a:endParaRPr lang="en-US" sz="1500">
                        <a:effectLst/>
                      </a:endParaRPr>
                    </a:p>
                  </a:txBody>
                  <a:tcPr marL="76339" marR="76339" marT="38170" marB="38170" anchor="ctr">
                    <a:lnL w="7620" cap="flat" cmpd="sng" algn="ctr">
                      <a:solidFill>
                        <a:srgbClr val="0091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808C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91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AC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500">
                          <a:effectLst/>
                        </a:rPr>
                        <a:t>1500-3000</a:t>
                      </a:r>
                    </a:p>
                  </a:txBody>
                  <a:tcPr marL="76339" marR="76339" marT="38170" marB="38170" anchor="ctr">
                    <a:lnL w="7620" cap="flat" cmpd="sng" algn="ctr">
                      <a:solidFill>
                        <a:srgbClr val="808C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09A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808C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80B5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500">
                          <a:effectLst/>
                        </a:rPr>
                        <a:t>Discovers strategies</a:t>
                      </a:r>
                    </a:p>
                  </a:txBody>
                  <a:tcPr marL="76339" marR="76339" marT="38170" marB="38170" anchor="ctr">
                    <a:lnL w="7620" cap="flat" cmpd="sng" algn="ctr">
                      <a:solidFill>
                        <a:srgbClr val="409A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A8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09A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0B4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500">
                          <a:effectLst/>
                        </a:rPr>
                        <a:t>50-70% good actions</a:t>
                      </a:r>
                    </a:p>
                  </a:txBody>
                  <a:tcPr marL="76339" marR="76339" marT="38170" marB="38170" anchor="ctr">
                    <a:lnL w="7620" cap="flat" cmpd="sng" algn="ctr">
                      <a:solidFill>
                        <a:srgbClr val="00A8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09B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A8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B6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500">
                          <a:effectLst/>
                        </a:rPr>
                        <a:t>10 to 15</a:t>
                      </a:r>
                    </a:p>
                  </a:txBody>
                  <a:tcPr marL="76339" marR="76339" marT="38170" marB="38170" anchor="ctr">
                    <a:lnL w="7620" cap="flat" cmpd="sng" algn="ctr">
                      <a:solidFill>
                        <a:srgbClr val="409B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809F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09B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0B7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500" dirty="0">
                          <a:effectLst/>
                        </a:rPr>
                        <a:t>Success rate increases</a:t>
                      </a:r>
                    </a:p>
                  </a:txBody>
                  <a:tcPr marL="76339" marR="76339" marT="38170" marB="38170" anchor="ctr">
                    <a:lnL w="7620" cap="flat" cmpd="sng" algn="ctr">
                      <a:solidFill>
                        <a:srgbClr val="809F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809F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809F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BF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1544603"/>
                  </a:ext>
                </a:extLst>
              </a:tr>
              <a:tr h="722594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500" b="1" dirty="0">
                          <a:effectLst/>
                        </a:rPr>
                        <a:t>Fine-Tuning</a:t>
                      </a:r>
                      <a:endParaRPr lang="en-US" sz="1500" dirty="0">
                        <a:effectLst/>
                      </a:endParaRPr>
                    </a:p>
                  </a:txBody>
                  <a:tcPr marL="76339" marR="76339" marT="38170" marB="38170" anchor="ctr">
                    <a:lnL w="7620" cap="flat" cmpd="sng" algn="ctr">
                      <a:solidFill>
                        <a:srgbClr val="00AC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80B5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AC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0C1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500">
                          <a:effectLst/>
                        </a:rPr>
                        <a:t>3000-5000</a:t>
                      </a:r>
                    </a:p>
                  </a:txBody>
                  <a:tcPr marL="76339" marR="76339" marT="38170" marB="38170" anchor="ctr">
                    <a:lnL w="7620" cap="flat" cmpd="sng" algn="ctr">
                      <a:solidFill>
                        <a:srgbClr val="80B5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0B4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80B5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C0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500">
                          <a:effectLst/>
                        </a:rPr>
                        <a:t>Optimizes details</a:t>
                      </a:r>
                    </a:p>
                  </a:txBody>
                  <a:tcPr marL="76339" marR="76339" marT="38170" marB="38170" anchor="ctr">
                    <a:lnL w="7620" cap="flat" cmpd="sng" algn="ctr">
                      <a:solidFill>
                        <a:srgbClr val="C0B4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B6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0B4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BD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500">
                          <a:effectLst/>
                        </a:rPr>
                        <a:t>80-90% good actions</a:t>
                      </a:r>
                    </a:p>
                  </a:txBody>
                  <a:tcPr marL="76339" marR="76339" marT="38170" marB="38170" anchor="ctr">
                    <a:lnL w="7620" cap="flat" cmpd="sng" algn="ctr">
                      <a:solidFill>
                        <a:srgbClr val="00B6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0B7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B6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BA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500">
                          <a:effectLst/>
                        </a:rPr>
                        <a:t>15 to 18</a:t>
                      </a:r>
                    </a:p>
                  </a:txBody>
                  <a:tcPr marL="76339" marR="76339" marT="38170" marB="38170" anchor="ctr">
                    <a:lnL w="7620" cap="flat" cmpd="sng" algn="ctr">
                      <a:solidFill>
                        <a:srgbClr val="C0B7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BF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0B7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80BB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500" dirty="0">
                          <a:effectLst/>
                        </a:rPr>
                        <a:t>Near-optimal behavior</a:t>
                      </a:r>
                    </a:p>
                  </a:txBody>
                  <a:tcPr marL="76339" marR="76339" marT="38170" marB="38170" anchor="ctr">
                    <a:lnL w="7620" cap="flat" cmpd="sng" algn="ctr">
                      <a:solidFill>
                        <a:srgbClr val="00BF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BF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BF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0D7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9475286"/>
                  </a:ext>
                </a:extLst>
              </a:tr>
              <a:tr h="632775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500" b="1" dirty="0">
                          <a:effectLst/>
                        </a:rPr>
                        <a:t>Convergence</a:t>
                      </a:r>
                      <a:endParaRPr lang="en-US" sz="1500" dirty="0">
                        <a:effectLst/>
                      </a:endParaRPr>
                    </a:p>
                  </a:txBody>
                  <a:tcPr marL="76339" marR="76339" marT="38170" marB="38170" anchor="ctr">
                    <a:lnL w="7620" cap="flat" cmpd="sng" algn="ctr">
                      <a:solidFill>
                        <a:srgbClr val="C0C1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C0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0C1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0C1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500" dirty="0">
                          <a:effectLst/>
                        </a:rPr>
                        <a:t>5000+</a:t>
                      </a:r>
                    </a:p>
                  </a:txBody>
                  <a:tcPr marL="76339" marR="76339" marT="38170" marB="38170" anchor="ctr">
                    <a:lnL w="7620" cap="flat" cmpd="sng" algn="ctr">
                      <a:solidFill>
                        <a:srgbClr val="00C0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BD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C0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C0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500" dirty="0">
                          <a:effectLst/>
                        </a:rPr>
                        <a:t>Stable performance</a:t>
                      </a:r>
                    </a:p>
                  </a:txBody>
                  <a:tcPr marL="76339" marR="76339" marT="38170" marB="38170" anchor="ctr">
                    <a:lnL w="7620" cap="flat" cmpd="sng" algn="ctr">
                      <a:solidFill>
                        <a:srgbClr val="00BD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BA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BD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BD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500" dirty="0">
                          <a:effectLst/>
                        </a:rPr>
                        <a:t>90-95% good actions</a:t>
                      </a:r>
                    </a:p>
                  </a:txBody>
                  <a:tcPr marL="76339" marR="76339" marT="38170" marB="38170" anchor="ctr">
                    <a:lnL w="7620" cap="flat" cmpd="sng" algn="ctr">
                      <a:solidFill>
                        <a:srgbClr val="00BA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80BB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BA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BA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500" dirty="0">
                          <a:effectLst/>
                        </a:rPr>
                        <a:t>18 ± 2</a:t>
                      </a:r>
                    </a:p>
                  </a:txBody>
                  <a:tcPr marL="76339" marR="76339" marT="38170" marB="38170" anchor="ctr">
                    <a:lnL w="7620" cap="flat" cmpd="sng" algn="ctr">
                      <a:solidFill>
                        <a:srgbClr val="80BB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0D7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80BB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80BB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500" dirty="0">
                          <a:effectLst/>
                        </a:rPr>
                        <a:t>Converged policy</a:t>
                      </a:r>
                    </a:p>
                  </a:txBody>
                  <a:tcPr marL="76339" marR="76339" marT="38170" marB="38170" anchor="ctr">
                    <a:lnL w="7620" cap="flat" cmpd="sng" algn="ctr">
                      <a:solidFill>
                        <a:srgbClr val="40D7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0D7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0D7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0D7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92962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049744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DF434-28DB-4621-A497-D62C41CE0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3028" y="84093"/>
            <a:ext cx="9779183" cy="1126144"/>
          </a:xfrm>
        </p:spPr>
        <p:txBody>
          <a:bodyPr/>
          <a:lstStyle/>
          <a:p>
            <a:r>
              <a:rPr lang="en-US" dirty="0"/>
              <a:t>Multi-Objective Reward and Simulation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44690BB-4EA6-42D3-A45D-90B88F12C3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8607394"/>
              </p:ext>
            </p:extLst>
          </p:nvPr>
        </p:nvGraphicFramePr>
        <p:xfrm>
          <a:off x="977152" y="1290918"/>
          <a:ext cx="8982636" cy="3908611"/>
        </p:xfrm>
        <a:graphic>
          <a:graphicData uri="http://schemas.openxmlformats.org/drawingml/2006/table">
            <a:tbl>
              <a:tblPr/>
              <a:tblGrid>
                <a:gridCol w="1497106">
                  <a:extLst>
                    <a:ext uri="{9D8B030D-6E8A-4147-A177-3AD203B41FA5}">
                      <a16:colId xmlns:a16="http://schemas.microsoft.com/office/drawing/2014/main" val="1170532957"/>
                    </a:ext>
                  </a:extLst>
                </a:gridCol>
                <a:gridCol w="1497106">
                  <a:extLst>
                    <a:ext uri="{9D8B030D-6E8A-4147-A177-3AD203B41FA5}">
                      <a16:colId xmlns:a16="http://schemas.microsoft.com/office/drawing/2014/main" val="230857430"/>
                    </a:ext>
                  </a:extLst>
                </a:gridCol>
                <a:gridCol w="1497106">
                  <a:extLst>
                    <a:ext uri="{9D8B030D-6E8A-4147-A177-3AD203B41FA5}">
                      <a16:colId xmlns:a16="http://schemas.microsoft.com/office/drawing/2014/main" val="3812259706"/>
                    </a:ext>
                  </a:extLst>
                </a:gridCol>
                <a:gridCol w="1497106">
                  <a:extLst>
                    <a:ext uri="{9D8B030D-6E8A-4147-A177-3AD203B41FA5}">
                      <a16:colId xmlns:a16="http://schemas.microsoft.com/office/drawing/2014/main" val="3044356277"/>
                    </a:ext>
                  </a:extLst>
                </a:gridCol>
                <a:gridCol w="1497106">
                  <a:extLst>
                    <a:ext uri="{9D8B030D-6E8A-4147-A177-3AD203B41FA5}">
                      <a16:colId xmlns:a16="http://schemas.microsoft.com/office/drawing/2014/main" val="3646535840"/>
                    </a:ext>
                  </a:extLst>
                </a:gridCol>
                <a:gridCol w="1497106">
                  <a:extLst>
                    <a:ext uri="{9D8B030D-6E8A-4147-A177-3AD203B41FA5}">
                      <a16:colId xmlns:a16="http://schemas.microsoft.com/office/drawing/2014/main" val="2645193746"/>
                    </a:ext>
                  </a:extLst>
                </a:gridCol>
              </a:tblGrid>
              <a:tr h="548509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dirty="0">
                          <a:solidFill>
                            <a:srgbClr val="3B3B3B"/>
                          </a:solidFill>
                          <a:effectLst/>
                        </a:rPr>
                        <a:t>Component</a:t>
                      </a:r>
                    </a:p>
                  </a:txBody>
                  <a:tcPr marL="54392" marR="54392" marT="27196" marB="27196" anchor="b">
                    <a:lnL w="7620" cap="flat" cmpd="sng" algn="ctr">
                      <a:solidFill>
                        <a:srgbClr val="B026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7030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026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046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>
                          <a:solidFill>
                            <a:srgbClr val="3B3B3B"/>
                          </a:solidFill>
                          <a:effectLst/>
                        </a:rPr>
                        <a:t>Formula</a:t>
                      </a:r>
                    </a:p>
                  </a:txBody>
                  <a:tcPr marL="54392" marR="54392" marT="27196" marB="27196" anchor="b">
                    <a:lnL w="7620" cap="flat" cmpd="sng" algn="ctr">
                      <a:solidFill>
                        <a:srgbClr val="7030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03A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702A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05E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dirty="0">
                          <a:solidFill>
                            <a:srgbClr val="3B3B3B"/>
                          </a:solidFill>
                          <a:effectLst/>
                        </a:rPr>
                        <a:t>Range</a:t>
                      </a:r>
                    </a:p>
                  </a:txBody>
                  <a:tcPr marL="54392" marR="54392" marT="27196" marB="27196" anchor="b">
                    <a:lnL w="7620" cap="flat" cmpd="sng" algn="ctr">
                      <a:solidFill>
                        <a:srgbClr val="303A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03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03A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05A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dirty="0">
                          <a:solidFill>
                            <a:srgbClr val="3B3B3B"/>
                          </a:solidFill>
                          <a:effectLst/>
                        </a:rPr>
                        <a:t>Weight</a:t>
                      </a:r>
                    </a:p>
                  </a:txBody>
                  <a:tcPr marL="54392" marR="54392" marT="27196" marB="27196" anchor="b">
                    <a:lnL w="7620" cap="flat" cmpd="sng" algn="ctr">
                      <a:solidFill>
                        <a:srgbClr val="F03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050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03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705C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dirty="0">
                          <a:solidFill>
                            <a:srgbClr val="3B3B3B"/>
                          </a:solidFill>
                          <a:effectLst/>
                        </a:rPr>
                        <a:t>Purpose</a:t>
                      </a:r>
                    </a:p>
                  </a:txBody>
                  <a:tcPr marL="54392" marR="54392" marT="27196" marB="27196" anchor="b">
                    <a:lnL w="7620" cap="flat" cmpd="sng" algn="ctr">
                      <a:solidFill>
                        <a:srgbClr val="F050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7043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050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7055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dirty="0">
                          <a:solidFill>
                            <a:srgbClr val="3B3B3B"/>
                          </a:solidFill>
                          <a:effectLst/>
                        </a:rPr>
                        <a:t>Result Achieved</a:t>
                      </a:r>
                    </a:p>
                  </a:txBody>
                  <a:tcPr marL="54392" marR="54392" marT="27196" marB="27196" anchor="b">
                    <a:lnL w="7620" cap="flat" cmpd="sng" algn="ctr">
                      <a:solidFill>
                        <a:srgbClr val="7043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7043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7043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064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2487502"/>
                  </a:ext>
                </a:extLst>
              </a:tr>
              <a:tr h="767914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400" b="1" dirty="0">
                          <a:effectLst/>
                        </a:rPr>
                        <a:t>Survival</a:t>
                      </a:r>
                      <a:endParaRPr lang="en-US" sz="1400" dirty="0">
                        <a:effectLst/>
                      </a:endParaRPr>
                    </a:p>
                  </a:txBody>
                  <a:tcPr marL="54392" marR="54392" marT="27196" marB="27196" anchor="ctr">
                    <a:lnL w="7620" cap="flat" cmpd="sng" algn="ctr">
                      <a:solidFill>
                        <a:srgbClr val="3046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045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046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06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400" dirty="0" err="1">
                          <a:effectLst/>
                        </a:rPr>
                        <a:t>R_survive</a:t>
                      </a:r>
                      <a:r>
                        <a:rPr lang="en-US" sz="1400" dirty="0">
                          <a:effectLst/>
                        </a:rPr>
                        <a:t> = +1 per timestep</a:t>
                      </a:r>
                    </a:p>
                  </a:txBody>
                  <a:tcPr marL="54392" marR="54392" marT="27196" marB="27196" anchor="ctr">
                    <a:lnL w="7620" cap="flat" cmpd="sng" algn="ctr">
                      <a:solidFill>
                        <a:srgbClr val="F045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05A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05E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063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400" dirty="0">
                          <a:effectLst/>
                        </a:rPr>
                        <a:t>[0, 1]</a:t>
                      </a:r>
                    </a:p>
                  </a:txBody>
                  <a:tcPr marL="54392" marR="54392" marT="27196" marB="27196" anchor="ctr">
                    <a:lnL w="7620" cap="flat" cmpd="sng" algn="ctr">
                      <a:solidFill>
                        <a:srgbClr val="B05A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705C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05A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07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l-GR" sz="1400" dirty="0">
                          <a:effectLst/>
                        </a:rPr>
                        <a:t>α=1.0</a:t>
                      </a:r>
                    </a:p>
                  </a:txBody>
                  <a:tcPr marL="54392" marR="54392" marT="27196" marB="27196" anchor="ctr">
                    <a:lnL w="7620" cap="flat" cmpd="sng" algn="ctr">
                      <a:solidFill>
                        <a:srgbClr val="705C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7055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705C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08A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400" dirty="0">
                          <a:effectLst/>
                        </a:rPr>
                        <a:t>Stay alive</a:t>
                      </a:r>
                    </a:p>
                  </a:txBody>
                  <a:tcPr marL="54392" marR="54392" marT="27196" marB="27196" anchor="ctr">
                    <a:lnL w="7620" cap="flat" cmpd="sng" algn="ctr">
                      <a:solidFill>
                        <a:srgbClr val="7055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064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7055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708A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400" dirty="0">
                          <a:effectLst/>
                        </a:rPr>
                        <a:t>100% success rate</a:t>
                      </a:r>
                    </a:p>
                  </a:txBody>
                  <a:tcPr marL="54392" marR="54392" marT="27196" marB="27196" anchor="ctr">
                    <a:lnL w="7620" cap="flat" cmpd="sng" algn="ctr">
                      <a:solidFill>
                        <a:srgbClr val="3064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064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064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708A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6507601"/>
                  </a:ext>
                </a:extLst>
              </a:tr>
              <a:tr h="912137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400" b="1">
                          <a:effectLst/>
                        </a:rPr>
                        <a:t>Overload</a:t>
                      </a:r>
                      <a:endParaRPr lang="en-US" sz="1400">
                        <a:effectLst/>
                      </a:endParaRPr>
                    </a:p>
                  </a:txBody>
                  <a:tcPr marL="54392" marR="54392" marT="27196" marB="27196" anchor="ctr">
                    <a:lnL w="7620" cap="flat" cmpd="sng" algn="ctr">
                      <a:solidFill>
                        <a:srgbClr val="F06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06C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06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08C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400">
                          <a:effectLst/>
                        </a:rPr>
                        <a:t>R_overload = 1 - 2·(Σ violations / max)</a:t>
                      </a:r>
                    </a:p>
                  </a:txBody>
                  <a:tcPr marL="54392" marR="54392" marT="27196" marB="27196" anchor="ctr">
                    <a:lnL w="7620" cap="flat" cmpd="sng" algn="ctr">
                      <a:solidFill>
                        <a:srgbClr val="306C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07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063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09F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400" dirty="0">
                          <a:effectLst/>
                        </a:rPr>
                        <a:t>[-1, 1]</a:t>
                      </a:r>
                    </a:p>
                  </a:txBody>
                  <a:tcPr marL="54392" marR="54392" marT="27196" marB="27196" anchor="ctr">
                    <a:lnL w="7620" cap="flat" cmpd="sng" algn="ctr">
                      <a:solidFill>
                        <a:srgbClr val="B07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08A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07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09E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l-GR" sz="1400" dirty="0">
                          <a:effectLst/>
                        </a:rPr>
                        <a:t>β=0.5</a:t>
                      </a:r>
                    </a:p>
                  </a:txBody>
                  <a:tcPr marL="54392" marR="54392" marT="27196" marB="27196" anchor="ctr">
                    <a:lnL w="7620" cap="flat" cmpd="sng" algn="ctr">
                      <a:solidFill>
                        <a:srgbClr val="308A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708A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08A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094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400" dirty="0">
                          <a:effectLst/>
                        </a:rPr>
                        <a:t>Safety</a:t>
                      </a:r>
                    </a:p>
                  </a:txBody>
                  <a:tcPr marL="54392" marR="54392" marT="27196" marB="27196" anchor="ctr">
                    <a:lnL w="7620" cap="flat" cmpd="sng" algn="ctr">
                      <a:solidFill>
                        <a:srgbClr val="708A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708A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708A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0AF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400" dirty="0">
                          <a:effectLst/>
                        </a:rPr>
                        <a:t>0% overloads</a:t>
                      </a:r>
                    </a:p>
                  </a:txBody>
                  <a:tcPr marL="54392" marR="54392" marT="27196" marB="27196" anchor="ctr">
                    <a:lnL w="7620" cap="flat" cmpd="sng" algn="ctr">
                      <a:solidFill>
                        <a:srgbClr val="708A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708A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708A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0A7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4707195"/>
                  </a:ext>
                </a:extLst>
              </a:tr>
              <a:tr h="1056361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400" b="1">
                          <a:effectLst/>
                        </a:rPr>
                        <a:t>Cost</a:t>
                      </a:r>
                      <a:endParaRPr lang="en-US" sz="1400">
                        <a:effectLst/>
                      </a:endParaRPr>
                    </a:p>
                  </a:txBody>
                  <a:tcPr marL="54392" marR="54392" marT="27196" marB="27196" anchor="ctr">
                    <a:lnL w="7620" cap="flat" cmpd="sng" algn="ctr">
                      <a:solidFill>
                        <a:srgbClr val="B08C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096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08C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0AD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400">
                          <a:effectLst/>
                        </a:rPr>
                        <a:t>R_cost = -(losses + redispatch)·price</a:t>
                      </a:r>
                    </a:p>
                  </a:txBody>
                  <a:tcPr marL="54392" marR="54392" marT="27196" marB="27196" anchor="ctr">
                    <a:lnL w="7620" cap="flat" cmpd="sng" algn="ctr">
                      <a:solidFill>
                        <a:srgbClr val="B096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09E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09F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0B8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400" dirty="0">
                          <a:effectLst/>
                        </a:rPr>
                        <a:t>[-1, 0]</a:t>
                      </a:r>
                    </a:p>
                  </a:txBody>
                  <a:tcPr marL="54392" marR="54392" marT="27196" marB="27196" anchor="ctr">
                    <a:lnL w="7620" cap="flat" cmpd="sng" algn="ctr">
                      <a:solidFill>
                        <a:srgbClr val="309E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094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09E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0BA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l-GR" sz="1400">
                          <a:effectLst/>
                        </a:rPr>
                        <a:t>η=0.5</a:t>
                      </a:r>
                    </a:p>
                  </a:txBody>
                  <a:tcPr marL="54392" marR="54392" marT="27196" marB="27196" anchor="ctr">
                    <a:lnL w="7620" cap="flat" cmpd="sng" algn="ctr">
                      <a:solidFill>
                        <a:srgbClr val="F094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0AF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094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0C8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400">
                          <a:effectLst/>
                        </a:rPr>
                        <a:t>Economics</a:t>
                      </a:r>
                    </a:p>
                  </a:txBody>
                  <a:tcPr marL="54392" marR="54392" marT="27196" marB="27196" anchor="ctr">
                    <a:lnL w="7620" cap="flat" cmpd="sng" algn="ctr">
                      <a:solidFill>
                        <a:srgbClr val="30AF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0A7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0AF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70C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400" dirty="0">
                          <a:effectLst/>
                        </a:rPr>
                        <a:t>12% cost reduction</a:t>
                      </a:r>
                    </a:p>
                  </a:txBody>
                  <a:tcPr marL="54392" marR="54392" marT="27196" marB="27196" anchor="ctr">
                    <a:lnL w="7620" cap="flat" cmpd="sng" algn="ctr">
                      <a:solidFill>
                        <a:srgbClr val="B0A7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0A7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0A7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0C1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6850122"/>
                  </a:ext>
                </a:extLst>
              </a:tr>
              <a:tr h="623690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400" b="1">
                          <a:effectLst/>
                        </a:rPr>
                        <a:t>Total</a:t>
                      </a:r>
                      <a:endParaRPr lang="en-US" sz="1400">
                        <a:effectLst/>
                      </a:endParaRPr>
                    </a:p>
                  </a:txBody>
                  <a:tcPr marL="54392" marR="54392" marT="27196" marB="27196" anchor="ctr">
                    <a:lnL w="7620" cap="flat" cmpd="sng" algn="ctr">
                      <a:solidFill>
                        <a:srgbClr val="F0AD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0A4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0AD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0AD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pt-BR" sz="1400" dirty="0">
                          <a:effectLst/>
                        </a:rPr>
                        <a:t>R = α·R_s + β·R_o + η·R_c</a:t>
                      </a:r>
                    </a:p>
                  </a:txBody>
                  <a:tcPr marL="54392" marR="54392" marT="27196" marB="27196" anchor="ctr">
                    <a:lnL w="7620" cap="flat" cmpd="sng" algn="ctr">
                      <a:solidFill>
                        <a:srgbClr val="B0A4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0BA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0B8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0B8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400" dirty="0">
                          <a:effectLst/>
                        </a:rPr>
                        <a:t>[-1.5, 2.0]</a:t>
                      </a:r>
                    </a:p>
                  </a:txBody>
                  <a:tcPr marL="54392" marR="54392" marT="27196" marB="27196" anchor="ctr">
                    <a:lnL w="7620" cap="flat" cmpd="sng" algn="ctr">
                      <a:solidFill>
                        <a:srgbClr val="B0BA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0C8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0BA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0BA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400" dirty="0">
                          <a:effectLst/>
                        </a:rPr>
                        <a:t>Weighted sum</a:t>
                      </a:r>
                    </a:p>
                  </a:txBody>
                  <a:tcPr marL="54392" marR="54392" marT="27196" marB="27196" anchor="ctr">
                    <a:lnL w="7620" cap="flat" cmpd="sng" algn="ctr">
                      <a:solidFill>
                        <a:srgbClr val="B0C8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70C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0C8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0C8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400" dirty="0">
                          <a:effectLst/>
                        </a:rPr>
                        <a:t>Balance objectives</a:t>
                      </a:r>
                    </a:p>
                  </a:txBody>
                  <a:tcPr marL="54392" marR="54392" marT="27196" marB="27196" anchor="ctr">
                    <a:lnL w="7620" cap="flat" cmpd="sng" algn="ctr">
                      <a:solidFill>
                        <a:srgbClr val="70C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0C1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70C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70C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400" dirty="0">
                          <a:effectLst/>
                        </a:rPr>
                        <a:t>18.5 avg reward</a:t>
                      </a:r>
                    </a:p>
                  </a:txBody>
                  <a:tcPr marL="54392" marR="54392" marT="27196" marB="27196" anchor="ctr">
                    <a:lnL w="7620" cap="flat" cmpd="sng" algn="ctr">
                      <a:solidFill>
                        <a:srgbClr val="B0C1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0C1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0C1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0C1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977817"/>
                  </a:ext>
                </a:extLst>
              </a:tr>
            </a:tbl>
          </a:graphicData>
        </a:graphic>
      </p:graphicFrame>
      <p:sp>
        <p:nvSpPr>
          <p:cNvPr id="6" name="Title 1">
            <a:extLst>
              <a:ext uri="{FF2B5EF4-FFF2-40B4-BE49-F238E27FC236}">
                <a16:creationId xmlns:a16="http://schemas.microsoft.com/office/drawing/2014/main" id="{F05F7A36-2631-4C5A-91B8-1EFB1D95D57B}"/>
              </a:ext>
            </a:extLst>
          </p:cNvPr>
          <p:cNvSpPr txBox="1">
            <a:spLocks/>
          </p:cNvSpPr>
          <p:nvPr/>
        </p:nvSpPr>
        <p:spPr>
          <a:xfrm>
            <a:off x="863027" y="5167081"/>
            <a:ext cx="7214173" cy="112614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/>
              <a:t>Note : For IEEE 5-Bus Output Data seems to be satisfactory but that will not be the case in real environment.</a:t>
            </a:r>
          </a:p>
        </p:txBody>
      </p:sp>
    </p:spTree>
    <p:extLst>
      <p:ext uri="{BB962C8B-B14F-4D97-AF65-F5344CB8AC3E}">
        <p14:creationId xmlns:p14="http://schemas.microsoft.com/office/powerpoint/2010/main" val="37350659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DF434-28DB-4621-A497-D62C41CE0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3027" y="-50379"/>
            <a:ext cx="11095890" cy="991672"/>
          </a:xfrm>
        </p:spPr>
        <p:txBody>
          <a:bodyPr/>
          <a:lstStyle/>
          <a:p>
            <a:r>
              <a:rPr lang="en-US" sz="4000" dirty="0"/>
              <a:t>Performance Comparison of Approaches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44690BB-4EA6-42D3-A45D-90B88F12C3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9342107"/>
              </p:ext>
            </p:extLst>
          </p:nvPr>
        </p:nvGraphicFramePr>
        <p:xfrm>
          <a:off x="977152" y="1290918"/>
          <a:ext cx="8982636" cy="3925001"/>
        </p:xfrm>
        <a:graphic>
          <a:graphicData uri="http://schemas.openxmlformats.org/drawingml/2006/table">
            <a:tbl>
              <a:tblPr/>
              <a:tblGrid>
                <a:gridCol w="1497106">
                  <a:extLst>
                    <a:ext uri="{9D8B030D-6E8A-4147-A177-3AD203B41FA5}">
                      <a16:colId xmlns:a16="http://schemas.microsoft.com/office/drawing/2014/main" val="1170532957"/>
                    </a:ext>
                  </a:extLst>
                </a:gridCol>
                <a:gridCol w="1497106">
                  <a:extLst>
                    <a:ext uri="{9D8B030D-6E8A-4147-A177-3AD203B41FA5}">
                      <a16:colId xmlns:a16="http://schemas.microsoft.com/office/drawing/2014/main" val="230857430"/>
                    </a:ext>
                  </a:extLst>
                </a:gridCol>
                <a:gridCol w="1497106">
                  <a:extLst>
                    <a:ext uri="{9D8B030D-6E8A-4147-A177-3AD203B41FA5}">
                      <a16:colId xmlns:a16="http://schemas.microsoft.com/office/drawing/2014/main" val="3812259706"/>
                    </a:ext>
                  </a:extLst>
                </a:gridCol>
                <a:gridCol w="1497106">
                  <a:extLst>
                    <a:ext uri="{9D8B030D-6E8A-4147-A177-3AD203B41FA5}">
                      <a16:colId xmlns:a16="http://schemas.microsoft.com/office/drawing/2014/main" val="3044356277"/>
                    </a:ext>
                  </a:extLst>
                </a:gridCol>
                <a:gridCol w="1497106">
                  <a:extLst>
                    <a:ext uri="{9D8B030D-6E8A-4147-A177-3AD203B41FA5}">
                      <a16:colId xmlns:a16="http://schemas.microsoft.com/office/drawing/2014/main" val="3646535840"/>
                    </a:ext>
                  </a:extLst>
                </a:gridCol>
                <a:gridCol w="1497106">
                  <a:extLst>
                    <a:ext uri="{9D8B030D-6E8A-4147-A177-3AD203B41FA5}">
                      <a16:colId xmlns:a16="http://schemas.microsoft.com/office/drawing/2014/main" val="2645193746"/>
                    </a:ext>
                  </a:extLst>
                </a:gridCol>
              </a:tblGrid>
              <a:tr h="548509">
                <a:tc>
                  <a:txBody>
                    <a:bodyPr/>
                    <a:lstStyle/>
                    <a:p>
                      <a:pPr algn="l" fontAlgn="b"/>
                      <a:r>
                        <a:rPr lang="en-US" b="1">
                          <a:solidFill>
                            <a:srgbClr val="3B3B3B"/>
                          </a:solidFill>
                          <a:effectLst/>
                        </a:rPr>
                        <a:t>Metric</a:t>
                      </a:r>
                    </a:p>
                  </a:txBody>
                  <a:tcPr anchor="b">
                    <a:lnL w="7620" cap="flat" cmpd="sng" algn="ctr">
                      <a:solidFill>
                        <a:srgbClr val="B026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7030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026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046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b="1">
                          <a:solidFill>
                            <a:srgbClr val="3B3B3B"/>
                          </a:solidFill>
                          <a:effectLst/>
                        </a:rPr>
                        <a:t>Target</a:t>
                      </a:r>
                    </a:p>
                  </a:txBody>
                  <a:tcPr anchor="b">
                    <a:lnL w="7620" cap="flat" cmpd="sng" algn="ctr">
                      <a:solidFill>
                        <a:srgbClr val="7030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03A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702A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05E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b="1">
                          <a:solidFill>
                            <a:srgbClr val="3B3B3B"/>
                          </a:solidFill>
                          <a:effectLst/>
                        </a:rPr>
                        <a:t>Pure PPO</a:t>
                      </a:r>
                    </a:p>
                  </a:txBody>
                  <a:tcPr anchor="b">
                    <a:lnL w="7620" cap="flat" cmpd="sng" algn="ctr">
                      <a:solidFill>
                        <a:srgbClr val="303A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03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03A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05A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b="1">
                          <a:solidFill>
                            <a:srgbClr val="3B3B3B"/>
                          </a:solidFill>
                          <a:effectLst/>
                        </a:rPr>
                        <a:t>Pure LLM</a:t>
                      </a:r>
                    </a:p>
                  </a:txBody>
                  <a:tcPr anchor="b">
                    <a:lnL w="7620" cap="flat" cmpd="sng" algn="ctr">
                      <a:solidFill>
                        <a:srgbClr val="F03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050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03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705C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b="1">
                          <a:solidFill>
                            <a:srgbClr val="3B3B3B"/>
                          </a:solidFill>
                          <a:effectLst/>
                        </a:rPr>
                        <a:t>PPO-Prior</a:t>
                      </a:r>
                    </a:p>
                  </a:txBody>
                  <a:tcPr anchor="b">
                    <a:lnL w="7620" cap="flat" cmpd="sng" algn="ctr">
                      <a:solidFill>
                        <a:srgbClr val="F050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7043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050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7055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b="1">
                          <a:solidFill>
                            <a:srgbClr val="3B3B3B"/>
                          </a:solidFill>
                          <a:effectLst/>
                        </a:rPr>
                        <a:t>Achievement</a:t>
                      </a:r>
                    </a:p>
                  </a:txBody>
                  <a:tcPr anchor="b">
                    <a:lnL w="7620" cap="flat" cmpd="sng" algn="ctr">
                      <a:solidFill>
                        <a:srgbClr val="7043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7043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7043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064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2487502"/>
                  </a:ext>
                </a:extLst>
              </a:tr>
              <a:tr h="767914">
                <a:tc>
                  <a:txBody>
                    <a:bodyPr/>
                    <a:lstStyle/>
                    <a:p>
                      <a:pPr algn="l" fontAlgn="base"/>
                      <a:r>
                        <a:rPr lang="en-US" b="1">
                          <a:effectLst/>
                        </a:rPr>
                        <a:t>Success Rate</a:t>
                      </a:r>
                      <a:endParaRPr lang="en-US">
                        <a:effectLst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3046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045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046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06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>
                          <a:effectLst/>
                        </a:rPr>
                        <a:t>&gt;95%</a:t>
                      </a:r>
                    </a:p>
                  </a:txBody>
                  <a:tcPr anchor="ctr">
                    <a:lnL w="7620" cap="flat" cmpd="sng" algn="ctr">
                      <a:solidFill>
                        <a:srgbClr val="F045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05A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05E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063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>
                          <a:effectLst/>
                        </a:rPr>
                        <a:t>100% ✅</a:t>
                      </a:r>
                    </a:p>
                  </a:txBody>
                  <a:tcPr anchor="ctr">
                    <a:lnL w="7620" cap="flat" cmpd="sng" algn="ctr">
                      <a:solidFill>
                        <a:srgbClr val="B05A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705C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05A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07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>
                          <a:effectLst/>
                        </a:rPr>
                        <a:t>65% ❌</a:t>
                      </a:r>
                    </a:p>
                  </a:txBody>
                  <a:tcPr anchor="ctr">
                    <a:lnL w="7620" cap="flat" cmpd="sng" algn="ctr">
                      <a:solidFill>
                        <a:srgbClr val="705C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7055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705C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08A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>
                          <a:effectLst/>
                        </a:rPr>
                        <a:t>100% ✅</a:t>
                      </a:r>
                    </a:p>
                  </a:txBody>
                  <a:tcPr anchor="ctr">
                    <a:lnL w="7620" cap="flat" cmpd="sng" algn="ctr">
                      <a:solidFill>
                        <a:srgbClr val="7055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064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7055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708A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>
                          <a:effectLst/>
                        </a:rPr>
                        <a:t>Exceeded target</a:t>
                      </a:r>
                    </a:p>
                  </a:txBody>
                  <a:tcPr anchor="ctr">
                    <a:lnL w="7620" cap="flat" cmpd="sng" algn="ctr">
                      <a:solidFill>
                        <a:srgbClr val="3064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064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064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708A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6507601"/>
                  </a:ext>
                </a:extLst>
              </a:tr>
              <a:tr h="912137">
                <a:tc>
                  <a:txBody>
                    <a:bodyPr/>
                    <a:lstStyle/>
                    <a:p>
                      <a:pPr algn="l" fontAlgn="base"/>
                      <a:r>
                        <a:rPr lang="en-US" b="1">
                          <a:effectLst/>
                        </a:rPr>
                        <a:t>Avg Reward</a:t>
                      </a:r>
                      <a:endParaRPr lang="en-US">
                        <a:effectLst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F06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06C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06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08C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dirty="0">
                          <a:effectLst/>
                        </a:rPr>
                        <a:t>&gt;15</a:t>
                      </a:r>
                    </a:p>
                  </a:txBody>
                  <a:tcPr anchor="ctr">
                    <a:lnL w="7620" cap="flat" cmpd="sng" algn="ctr">
                      <a:solidFill>
                        <a:srgbClr val="306C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07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063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09F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>
                          <a:effectLst/>
                        </a:rPr>
                        <a:t>16.8 ✅</a:t>
                      </a:r>
                    </a:p>
                  </a:txBody>
                  <a:tcPr anchor="ctr">
                    <a:lnL w="7620" cap="flat" cmpd="sng" algn="ctr">
                      <a:solidFill>
                        <a:srgbClr val="B07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08A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07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09E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>
                          <a:effectLst/>
                        </a:rPr>
                        <a:t>10.5 ❌</a:t>
                      </a:r>
                    </a:p>
                  </a:txBody>
                  <a:tcPr anchor="ctr">
                    <a:lnL w="7620" cap="flat" cmpd="sng" algn="ctr">
                      <a:solidFill>
                        <a:srgbClr val="308A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708A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08A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094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>
                          <a:effectLst/>
                        </a:rPr>
                        <a:t>18.5 ✅</a:t>
                      </a:r>
                    </a:p>
                  </a:txBody>
                  <a:tcPr anchor="ctr">
                    <a:lnL w="7620" cap="flat" cmpd="sng" algn="ctr">
                      <a:solidFill>
                        <a:srgbClr val="708A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708A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708A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0AF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>
                          <a:effectLst/>
                        </a:rPr>
                        <a:t>23% above target</a:t>
                      </a:r>
                    </a:p>
                  </a:txBody>
                  <a:tcPr anchor="ctr">
                    <a:lnL w="7620" cap="flat" cmpd="sng" algn="ctr">
                      <a:solidFill>
                        <a:srgbClr val="708A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708A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708A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0A7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4707195"/>
                  </a:ext>
                </a:extLst>
              </a:tr>
              <a:tr h="1056361">
                <a:tc>
                  <a:txBody>
                    <a:bodyPr/>
                    <a:lstStyle/>
                    <a:p>
                      <a:pPr algn="l" fontAlgn="base"/>
                      <a:r>
                        <a:rPr lang="en-US" b="1">
                          <a:effectLst/>
                        </a:rPr>
                        <a:t>Stability (</a:t>
                      </a:r>
                      <a:r>
                        <a:rPr lang="el-GR" b="1">
                          <a:effectLst/>
                        </a:rPr>
                        <a:t>σ)</a:t>
                      </a:r>
                      <a:endParaRPr lang="el-GR">
                        <a:effectLst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08C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096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08C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0AD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>
                          <a:effectLst/>
                        </a:rPr>
                        <a:t>&lt;3.0</a:t>
                      </a:r>
                    </a:p>
                  </a:txBody>
                  <a:tcPr anchor="ctr">
                    <a:lnL w="7620" cap="flat" cmpd="sng" algn="ctr">
                      <a:solidFill>
                        <a:srgbClr val="B096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09E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09F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0B8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dirty="0">
                          <a:effectLst/>
                        </a:rPr>
                        <a:t>2.1 ✅</a:t>
                      </a:r>
                    </a:p>
                  </a:txBody>
                  <a:tcPr anchor="ctr">
                    <a:lnL w="7620" cap="flat" cmpd="sng" algn="ctr">
                      <a:solidFill>
                        <a:srgbClr val="309E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094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09E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0BA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>
                          <a:effectLst/>
                        </a:rPr>
                        <a:t>4.2 ❌</a:t>
                      </a:r>
                    </a:p>
                  </a:txBody>
                  <a:tcPr anchor="ctr">
                    <a:lnL w="7620" cap="flat" cmpd="sng" algn="ctr">
                      <a:solidFill>
                        <a:srgbClr val="F094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0AF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094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0C8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>
                          <a:effectLst/>
                        </a:rPr>
                        <a:t>1.8 ✅</a:t>
                      </a:r>
                    </a:p>
                  </a:txBody>
                  <a:tcPr anchor="ctr">
                    <a:lnL w="7620" cap="flat" cmpd="sng" algn="ctr">
                      <a:solidFill>
                        <a:srgbClr val="30AF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0A7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0AF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70C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>
                          <a:effectLst/>
                        </a:rPr>
                        <a:t>Most stable</a:t>
                      </a:r>
                    </a:p>
                  </a:txBody>
                  <a:tcPr anchor="ctr">
                    <a:lnL w="7620" cap="flat" cmpd="sng" algn="ctr">
                      <a:solidFill>
                        <a:srgbClr val="B0A7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0A7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0A7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0C1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6850122"/>
                  </a:ext>
                </a:extLst>
              </a:tr>
              <a:tr h="623690">
                <a:tc>
                  <a:txBody>
                    <a:bodyPr/>
                    <a:lstStyle/>
                    <a:p>
                      <a:pPr algn="l" fontAlgn="base"/>
                      <a:r>
                        <a:rPr lang="en-US" b="1">
                          <a:effectLst/>
                        </a:rPr>
                        <a:t>Training Speed</a:t>
                      </a:r>
                      <a:endParaRPr lang="en-US">
                        <a:effectLst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F0AD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0A4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0AD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0AD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>
                          <a:effectLst/>
                        </a:rPr>
                        <a:t>Minimize</a:t>
                      </a:r>
                    </a:p>
                  </a:txBody>
                  <a:tcPr anchor="ctr">
                    <a:lnL w="7620" cap="flat" cmpd="sng" algn="ctr">
                      <a:solidFill>
                        <a:srgbClr val="B0A4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0BA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0B8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0B8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>
                          <a:effectLst/>
                        </a:rPr>
                        <a:t>5000 eps</a:t>
                      </a:r>
                    </a:p>
                  </a:txBody>
                  <a:tcPr anchor="ctr">
                    <a:lnL w="7620" cap="flat" cmpd="sng" algn="ctr">
                      <a:solidFill>
                        <a:srgbClr val="B0BA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0C8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0BA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0BA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>
                          <a:effectLst/>
                        </a:rPr>
                        <a:t>N/A</a:t>
                      </a:r>
                    </a:p>
                  </a:txBody>
                  <a:tcPr anchor="ctr">
                    <a:lnL w="7620" cap="flat" cmpd="sng" algn="ctr">
                      <a:solidFill>
                        <a:srgbClr val="B0C8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70C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0C8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0C8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>
                          <a:effectLst/>
                        </a:rPr>
                        <a:t>3000 eps ✅</a:t>
                      </a:r>
                    </a:p>
                  </a:txBody>
                  <a:tcPr anchor="ctr">
                    <a:lnL w="7620" cap="flat" cmpd="sng" algn="ctr">
                      <a:solidFill>
                        <a:srgbClr val="70C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0C1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70C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70C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dirty="0">
                          <a:effectLst/>
                        </a:rPr>
                        <a:t>40% faster</a:t>
                      </a:r>
                    </a:p>
                  </a:txBody>
                  <a:tcPr anchor="ctr">
                    <a:lnL w="7620" cap="flat" cmpd="sng" algn="ctr">
                      <a:solidFill>
                        <a:srgbClr val="B0C1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0C1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0C1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0C1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977817"/>
                  </a:ext>
                </a:extLst>
              </a:tr>
            </a:tbl>
          </a:graphicData>
        </a:graphic>
      </p:graphicFrame>
      <p:sp>
        <p:nvSpPr>
          <p:cNvPr id="6" name="Title 1">
            <a:extLst>
              <a:ext uri="{FF2B5EF4-FFF2-40B4-BE49-F238E27FC236}">
                <a16:creationId xmlns:a16="http://schemas.microsoft.com/office/drawing/2014/main" id="{F05F7A36-2631-4C5A-91B8-1EFB1D95D57B}"/>
              </a:ext>
            </a:extLst>
          </p:cNvPr>
          <p:cNvSpPr txBox="1">
            <a:spLocks/>
          </p:cNvSpPr>
          <p:nvPr/>
        </p:nvSpPr>
        <p:spPr>
          <a:xfrm>
            <a:off x="863027" y="5167081"/>
            <a:ext cx="7214173" cy="112614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dirty="0"/>
              <a:t>Key Insights:</a:t>
            </a:r>
          </a:p>
          <a:p>
            <a:r>
              <a:rPr lang="en-US" sz="1800" b="0" dirty="0"/>
              <a:t>• PPO + LLM Priors → 40% faster training</a:t>
            </a:r>
          </a:p>
          <a:p>
            <a:r>
              <a:rPr lang="en-US" sz="1800" b="0" dirty="0"/>
              <a:t>• Combines learning &amp; domain knowledge</a:t>
            </a:r>
          </a:p>
          <a:p>
            <a:r>
              <a:rPr lang="en-US" sz="1800" b="0" dirty="0"/>
              <a:t>• Best performance and stability</a:t>
            </a:r>
          </a:p>
        </p:txBody>
      </p:sp>
    </p:spTree>
    <p:extLst>
      <p:ext uri="{BB962C8B-B14F-4D97-AF65-F5344CB8AC3E}">
        <p14:creationId xmlns:p14="http://schemas.microsoft.com/office/powerpoint/2010/main" val="27320347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DF434-28DB-4621-A497-D62C41CE0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3027" y="-50379"/>
            <a:ext cx="11095890" cy="991672"/>
          </a:xfrm>
        </p:spPr>
        <p:txBody>
          <a:bodyPr/>
          <a:lstStyle/>
          <a:p>
            <a:r>
              <a:rPr lang="en-US" sz="4000" dirty="0"/>
              <a:t>Summary of </a:t>
            </a:r>
            <a:r>
              <a:rPr lang="en-US" sz="4000" dirty="0" err="1"/>
              <a:t>EffiRL</a:t>
            </a:r>
            <a:r>
              <a:rPr lang="en-US" sz="4000" dirty="0"/>
              <a:t> Findings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44690BB-4EA6-42D3-A45D-90B88F12C3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0994680"/>
              </p:ext>
            </p:extLst>
          </p:nvPr>
        </p:nvGraphicFramePr>
        <p:xfrm>
          <a:off x="1066799" y="1102658"/>
          <a:ext cx="8955744" cy="4356848"/>
        </p:xfrm>
        <a:graphic>
          <a:graphicData uri="http://schemas.openxmlformats.org/drawingml/2006/table">
            <a:tbl>
              <a:tblPr/>
              <a:tblGrid>
                <a:gridCol w="2238936">
                  <a:extLst>
                    <a:ext uri="{9D8B030D-6E8A-4147-A177-3AD203B41FA5}">
                      <a16:colId xmlns:a16="http://schemas.microsoft.com/office/drawing/2014/main" val="1170532957"/>
                    </a:ext>
                  </a:extLst>
                </a:gridCol>
                <a:gridCol w="2238936">
                  <a:extLst>
                    <a:ext uri="{9D8B030D-6E8A-4147-A177-3AD203B41FA5}">
                      <a16:colId xmlns:a16="http://schemas.microsoft.com/office/drawing/2014/main" val="230857430"/>
                    </a:ext>
                  </a:extLst>
                </a:gridCol>
                <a:gridCol w="2238936">
                  <a:extLst>
                    <a:ext uri="{9D8B030D-6E8A-4147-A177-3AD203B41FA5}">
                      <a16:colId xmlns:a16="http://schemas.microsoft.com/office/drawing/2014/main" val="3812259706"/>
                    </a:ext>
                  </a:extLst>
                </a:gridCol>
                <a:gridCol w="2238936">
                  <a:extLst>
                    <a:ext uri="{9D8B030D-6E8A-4147-A177-3AD203B41FA5}">
                      <a16:colId xmlns:a16="http://schemas.microsoft.com/office/drawing/2014/main" val="3044356277"/>
                    </a:ext>
                  </a:extLst>
                </a:gridCol>
              </a:tblGrid>
              <a:tr h="542397">
                <a:tc>
                  <a:txBody>
                    <a:bodyPr/>
                    <a:lstStyle/>
                    <a:p>
                      <a:pPr algn="l" fontAlgn="b"/>
                      <a:r>
                        <a:rPr lang="en-US" b="1">
                          <a:solidFill>
                            <a:srgbClr val="3B3B3B"/>
                          </a:solidFill>
                          <a:effectLst/>
                        </a:rPr>
                        <a:t>Result</a:t>
                      </a:r>
                    </a:p>
                  </a:txBody>
                  <a:tcPr anchor="b">
                    <a:lnL w="7620" cap="flat" cmpd="sng" algn="ctr">
                      <a:solidFill>
                        <a:srgbClr val="B026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7030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026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046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b="1">
                          <a:solidFill>
                            <a:srgbClr val="3B3B3B"/>
                          </a:solidFill>
                          <a:effectLst/>
                        </a:rPr>
                        <a:t>What It Proves</a:t>
                      </a:r>
                    </a:p>
                  </a:txBody>
                  <a:tcPr anchor="b">
                    <a:lnL w="7620" cap="flat" cmpd="sng" algn="ctr">
                      <a:solidFill>
                        <a:srgbClr val="7030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03A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702A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05E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b="1">
                          <a:solidFill>
                            <a:srgbClr val="3B3B3B"/>
                          </a:solidFill>
                          <a:effectLst/>
                        </a:rPr>
                        <a:t>Significance</a:t>
                      </a:r>
                    </a:p>
                  </a:txBody>
                  <a:tcPr anchor="b">
                    <a:lnL w="7620" cap="flat" cmpd="sng" algn="ctr">
                      <a:solidFill>
                        <a:srgbClr val="303A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03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03A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05A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b="1" dirty="0">
                          <a:solidFill>
                            <a:srgbClr val="3B3B3B"/>
                          </a:solidFill>
                          <a:effectLst/>
                        </a:rPr>
                        <a:t>Future Impact</a:t>
                      </a:r>
                    </a:p>
                  </a:txBody>
                  <a:tcPr anchor="b">
                    <a:lnL w="7620" cap="flat" cmpd="sng" algn="ctr">
                      <a:solidFill>
                        <a:srgbClr val="F03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050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03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705C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2487502"/>
                  </a:ext>
                </a:extLst>
              </a:tr>
              <a:tr h="923287">
                <a:tc>
                  <a:txBody>
                    <a:bodyPr/>
                    <a:lstStyle/>
                    <a:p>
                      <a:pPr algn="l" fontAlgn="base"/>
                      <a:r>
                        <a:rPr lang="en-US" b="1">
                          <a:effectLst/>
                        </a:rPr>
                        <a:t>100% Success Rate</a:t>
                      </a:r>
                      <a:endParaRPr lang="en-US">
                        <a:effectLst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3046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045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046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06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>
                          <a:effectLst/>
                        </a:rPr>
                        <a:t>RL can reliably control power grids</a:t>
                      </a:r>
                    </a:p>
                  </a:txBody>
                  <a:tcPr anchor="ctr">
                    <a:lnL w="7620" cap="flat" cmpd="sng" algn="ctr">
                      <a:solidFill>
                        <a:srgbClr val="F045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05A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05E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063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>
                          <a:effectLst/>
                        </a:rPr>
                        <a:t>Safety-critical deployment viable</a:t>
                      </a:r>
                    </a:p>
                  </a:txBody>
                  <a:tcPr anchor="ctr">
                    <a:lnL w="7620" cap="flat" cmpd="sng" algn="ctr">
                      <a:solidFill>
                        <a:srgbClr val="B05A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705C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05A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07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>
                          <a:effectLst/>
                        </a:rPr>
                        <a:t>Industry adoption possible</a:t>
                      </a:r>
                    </a:p>
                  </a:txBody>
                  <a:tcPr anchor="ctr">
                    <a:lnL w="7620" cap="flat" cmpd="sng" algn="ctr">
                      <a:solidFill>
                        <a:srgbClr val="705C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7055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705C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08A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6507601"/>
                  </a:ext>
                </a:extLst>
              </a:tr>
              <a:tr h="923287">
                <a:tc>
                  <a:txBody>
                    <a:bodyPr/>
                    <a:lstStyle/>
                    <a:p>
                      <a:pPr algn="l" fontAlgn="base"/>
                      <a:r>
                        <a:rPr lang="en-US" b="1">
                          <a:effectLst/>
                        </a:rPr>
                        <a:t>40% Faster Training</a:t>
                      </a:r>
                      <a:endParaRPr lang="en-US">
                        <a:effectLst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F06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06C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06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08C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>
                          <a:effectLst/>
                        </a:rPr>
                        <a:t>LLM priors accelerate learning</a:t>
                      </a:r>
                    </a:p>
                  </a:txBody>
                  <a:tcPr anchor="ctr">
                    <a:lnL w="7620" cap="flat" cmpd="sng" algn="ctr">
                      <a:solidFill>
                        <a:srgbClr val="306C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07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063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09F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>
                          <a:effectLst/>
                        </a:rPr>
                        <a:t>Reduced training costs</a:t>
                      </a:r>
                    </a:p>
                  </a:txBody>
                  <a:tcPr anchor="ctr">
                    <a:lnL w="7620" cap="flat" cmpd="sng" algn="ctr">
                      <a:solidFill>
                        <a:srgbClr val="B07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08A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07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09E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>
                          <a:effectLst/>
                        </a:rPr>
                        <a:t>Practical for large systems</a:t>
                      </a:r>
                    </a:p>
                  </a:txBody>
                  <a:tcPr anchor="ctr">
                    <a:lnL w="7620" cap="flat" cmpd="sng" algn="ctr">
                      <a:solidFill>
                        <a:srgbClr val="308A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708A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08A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094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4707195"/>
                  </a:ext>
                </a:extLst>
              </a:tr>
              <a:tr h="1044590">
                <a:tc>
                  <a:txBody>
                    <a:bodyPr/>
                    <a:lstStyle/>
                    <a:p>
                      <a:pPr algn="l" fontAlgn="base"/>
                      <a:r>
                        <a:rPr lang="en-US" b="1">
                          <a:effectLst/>
                        </a:rPr>
                        <a:t>18.5 Avg Reward</a:t>
                      </a:r>
                      <a:endParaRPr lang="en-US">
                        <a:effectLst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08C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096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08C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0AD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>
                          <a:effectLst/>
                        </a:rPr>
                        <a:t>Multi-objective optimization works</a:t>
                      </a:r>
                    </a:p>
                  </a:txBody>
                  <a:tcPr anchor="ctr">
                    <a:lnL w="7620" cap="flat" cmpd="sng" algn="ctr">
                      <a:solidFill>
                        <a:srgbClr val="B096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09E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09F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0B8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>
                          <a:effectLst/>
                        </a:rPr>
                        <a:t>Balances competing goals</a:t>
                      </a:r>
                    </a:p>
                  </a:txBody>
                  <a:tcPr anchor="ctr">
                    <a:lnL w="7620" cap="flat" cmpd="sng" algn="ctr">
                      <a:solidFill>
                        <a:srgbClr val="309E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094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09E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0BA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>
                          <a:effectLst/>
                        </a:rPr>
                        <a:t>Better than single-objective</a:t>
                      </a:r>
                    </a:p>
                  </a:txBody>
                  <a:tcPr anchor="ctr">
                    <a:lnL w="7620" cap="flat" cmpd="sng" algn="ctr">
                      <a:solidFill>
                        <a:srgbClr val="F094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0AF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094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0C8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6850122"/>
                  </a:ext>
                </a:extLst>
              </a:tr>
              <a:tr h="923287">
                <a:tc>
                  <a:txBody>
                    <a:bodyPr/>
                    <a:lstStyle/>
                    <a:p>
                      <a:pPr algn="l" fontAlgn="base"/>
                      <a:r>
                        <a:rPr lang="en-US" b="1">
                          <a:effectLst/>
                        </a:rPr>
                        <a:t>0% Overloads</a:t>
                      </a:r>
                      <a:endParaRPr lang="en-US">
                        <a:effectLst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F0AD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0A4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0AD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0AD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>
                          <a:effectLst/>
                        </a:rPr>
                        <a:t>Safety constraints learned</a:t>
                      </a:r>
                    </a:p>
                  </a:txBody>
                  <a:tcPr anchor="ctr">
                    <a:lnL w="7620" cap="flat" cmpd="sng" algn="ctr">
                      <a:solidFill>
                        <a:srgbClr val="B0A4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0BA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0B8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0B8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dirty="0">
                          <a:effectLst/>
                        </a:rPr>
                        <a:t>No line failures</a:t>
                      </a:r>
                    </a:p>
                  </a:txBody>
                  <a:tcPr anchor="ctr">
                    <a:lnL w="7620" cap="flat" cmpd="sng" algn="ctr">
                      <a:solidFill>
                        <a:srgbClr val="B0BA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0C8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0BA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0BA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dirty="0">
                          <a:effectLst/>
                        </a:rPr>
                        <a:t>Meets grid codes</a:t>
                      </a:r>
                    </a:p>
                  </a:txBody>
                  <a:tcPr anchor="ctr">
                    <a:lnL w="7620" cap="flat" cmpd="sng" algn="ctr">
                      <a:solidFill>
                        <a:srgbClr val="B0C8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70C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0C8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0C8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9778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618645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DF434-28DB-4621-A497-D62C41CE0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3027" y="-50379"/>
            <a:ext cx="11095890" cy="991672"/>
          </a:xfrm>
        </p:spPr>
        <p:txBody>
          <a:bodyPr/>
          <a:lstStyle/>
          <a:p>
            <a:r>
              <a:rPr lang="en-US" sz="4000" dirty="0"/>
              <a:t>Research Motivation 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F0D6230-EB88-4BF1-A705-E56CC2EA9A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3041438"/>
              </p:ext>
            </p:extLst>
          </p:nvPr>
        </p:nvGraphicFramePr>
        <p:xfrm>
          <a:off x="1030940" y="1201271"/>
          <a:ext cx="9556377" cy="2394651"/>
        </p:xfrm>
        <a:graphic>
          <a:graphicData uri="http://schemas.openxmlformats.org/drawingml/2006/table">
            <a:tbl>
              <a:tblPr/>
              <a:tblGrid>
                <a:gridCol w="2551748">
                  <a:extLst>
                    <a:ext uri="{9D8B030D-6E8A-4147-A177-3AD203B41FA5}">
                      <a16:colId xmlns:a16="http://schemas.microsoft.com/office/drawing/2014/main" val="3148057884"/>
                    </a:ext>
                  </a:extLst>
                </a:gridCol>
                <a:gridCol w="3531888">
                  <a:extLst>
                    <a:ext uri="{9D8B030D-6E8A-4147-A177-3AD203B41FA5}">
                      <a16:colId xmlns:a16="http://schemas.microsoft.com/office/drawing/2014/main" val="750444812"/>
                    </a:ext>
                  </a:extLst>
                </a:gridCol>
                <a:gridCol w="3472741">
                  <a:extLst>
                    <a:ext uri="{9D8B030D-6E8A-4147-A177-3AD203B41FA5}">
                      <a16:colId xmlns:a16="http://schemas.microsoft.com/office/drawing/2014/main" val="4110778212"/>
                    </a:ext>
                  </a:extLst>
                </a:gridCol>
              </a:tblGrid>
              <a:tr h="532145">
                <a:tc>
                  <a:txBody>
                    <a:bodyPr/>
                    <a:lstStyle/>
                    <a:p>
                      <a:pPr algn="l" fontAlgn="b"/>
                      <a:r>
                        <a:rPr lang="en-US" b="1">
                          <a:solidFill>
                            <a:srgbClr val="3B3B3B"/>
                          </a:solidFill>
                          <a:effectLst/>
                        </a:rPr>
                        <a:t>Current Gap</a:t>
                      </a:r>
                    </a:p>
                  </a:txBody>
                  <a:tcPr anchor="b">
                    <a:lnL w="7620" cap="flat" cmpd="sng" algn="ctr">
                      <a:solidFill>
                        <a:srgbClr val="A0F2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6007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0F2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01C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b="1">
                          <a:solidFill>
                            <a:srgbClr val="3B3B3B"/>
                          </a:solidFill>
                          <a:effectLst/>
                        </a:rPr>
                        <a:t>Our Opportunity</a:t>
                      </a:r>
                    </a:p>
                  </a:txBody>
                  <a:tcPr anchor="b">
                    <a:lnL w="7620" cap="flat" cmpd="sng" algn="ctr">
                      <a:solidFill>
                        <a:srgbClr val="6007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601C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6007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020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b="1">
                          <a:solidFill>
                            <a:srgbClr val="3B3B3B"/>
                          </a:solidFill>
                          <a:effectLst/>
                        </a:rPr>
                        <a:t>Expected Impact</a:t>
                      </a:r>
                    </a:p>
                  </a:txBody>
                  <a:tcPr anchor="b">
                    <a:lnL w="7620" cap="flat" cmpd="sng" algn="ctr">
                      <a:solidFill>
                        <a:srgbClr val="601C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601C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601C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029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2049681"/>
                  </a:ext>
                </a:extLst>
              </a:tr>
              <a:tr h="931253">
                <a:tc>
                  <a:txBody>
                    <a:bodyPr/>
                    <a:lstStyle/>
                    <a:p>
                      <a:pPr algn="l" fontAlgn="base"/>
                      <a:r>
                        <a:rPr lang="en-US" b="1">
                          <a:effectLst/>
                        </a:rPr>
                        <a:t>Limited Scale Testing</a:t>
                      </a:r>
                      <a:endParaRPr lang="en-US">
                        <a:effectLst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A01C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020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01C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033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dirty="0">
                          <a:effectLst/>
                        </a:rPr>
                        <a:t>We have 177-bus real data</a:t>
                      </a:r>
                    </a:p>
                  </a:txBody>
                  <a:tcPr anchor="ctr">
                    <a:lnL w="7620" cap="flat" cmpd="sng" algn="ctr">
                      <a:solidFill>
                        <a:srgbClr val="A020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029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020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6041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>
                          <a:effectLst/>
                        </a:rPr>
                        <a:t>First large-scale EffiRL validation</a:t>
                      </a:r>
                    </a:p>
                  </a:txBody>
                  <a:tcPr anchor="ctr">
                    <a:lnL w="7620" cap="flat" cmpd="sng" algn="ctr">
                      <a:solidFill>
                        <a:srgbClr val="E029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029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029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6042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4218131"/>
                  </a:ext>
                </a:extLst>
              </a:tr>
              <a:tr h="931253">
                <a:tc>
                  <a:txBody>
                    <a:bodyPr/>
                    <a:lstStyle/>
                    <a:p>
                      <a:pPr algn="l" fontAlgn="base"/>
                      <a:r>
                        <a:rPr lang="en-US" b="1">
                          <a:effectLst/>
                        </a:rPr>
                        <a:t>Toy Problem Validation</a:t>
                      </a:r>
                      <a:endParaRPr lang="en-US">
                        <a:effectLst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E033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6041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033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06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>
                          <a:effectLst/>
                        </a:rPr>
                        <a:t>Real power system topology</a:t>
                      </a:r>
                    </a:p>
                  </a:txBody>
                  <a:tcPr anchor="ctr">
                    <a:lnL w="7620" cap="flat" cmpd="sng" algn="ctr">
                      <a:solidFill>
                        <a:srgbClr val="6041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6042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6041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06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dirty="0">
                          <a:effectLst/>
                        </a:rPr>
                        <a:t>Industry-relevant results</a:t>
                      </a:r>
                    </a:p>
                  </a:txBody>
                  <a:tcPr anchor="ctr">
                    <a:lnL w="7620" cap="flat" cmpd="sng" algn="ctr">
                      <a:solidFill>
                        <a:srgbClr val="6042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6042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6042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06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7989889"/>
                  </a:ext>
                </a:extLst>
              </a:tr>
            </a:tbl>
          </a:graphicData>
        </a:graphic>
      </p:graphicFrame>
      <p:sp>
        <p:nvSpPr>
          <p:cNvPr id="7" name="Title 1">
            <a:extLst>
              <a:ext uri="{FF2B5EF4-FFF2-40B4-BE49-F238E27FC236}">
                <a16:creationId xmlns:a16="http://schemas.microsoft.com/office/drawing/2014/main" id="{D573ECCB-5470-489A-8059-E17DD7001289}"/>
              </a:ext>
            </a:extLst>
          </p:cNvPr>
          <p:cNvSpPr txBox="1">
            <a:spLocks/>
          </p:cNvSpPr>
          <p:nvPr/>
        </p:nvSpPr>
        <p:spPr>
          <a:xfrm>
            <a:off x="863027" y="3855899"/>
            <a:ext cx="11095890" cy="118226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3B3B3B"/>
                </a:solidFill>
                <a:effectLst/>
                <a:latin typeface="Segoe WPC"/>
              </a:rPr>
              <a:t>Research Question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rgbClr val="3B3B3B"/>
                </a:solidFill>
                <a:effectLst/>
                <a:latin typeface="Segoe WPC"/>
              </a:rPr>
              <a:t>"Can LLM-guided reinforcement learning scale from educational benchmarks (5-bus) to real-world power systems (177-bus) while maintaining safety and efficiency?"</a:t>
            </a:r>
            <a:endParaRPr kumimoji="0" lang="en-US" altLang="en-US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03538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DF434-28DB-4621-A497-D62C41CE0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3027" y="-50379"/>
            <a:ext cx="11095890" cy="991672"/>
          </a:xfrm>
        </p:spPr>
        <p:txBody>
          <a:bodyPr/>
          <a:lstStyle/>
          <a:p>
            <a:pPr algn="l"/>
            <a:r>
              <a:rPr lang="en-US" sz="3200" b="1" i="0" dirty="0">
                <a:solidFill>
                  <a:srgbClr val="3B3B3B"/>
                </a:solidFill>
                <a:effectLst/>
                <a:latin typeface="Segoe WPC"/>
              </a:rPr>
              <a:t> Dataset Comparison - What We're Scaling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F0D6230-EB88-4BF1-A705-E56CC2EA9A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0334894"/>
              </p:ext>
            </p:extLst>
          </p:nvPr>
        </p:nvGraphicFramePr>
        <p:xfrm>
          <a:off x="1030940" y="1201271"/>
          <a:ext cx="10174943" cy="4099021"/>
        </p:xfrm>
        <a:graphic>
          <a:graphicData uri="http://schemas.openxmlformats.org/drawingml/2006/table">
            <a:tbl>
              <a:tblPr/>
              <a:tblGrid>
                <a:gridCol w="2144336">
                  <a:extLst>
                    <a:ext uri="{9D8B030D-6E8A-4147-A177-3AD203B41FA5}">
                      <a16:colId xmlns:a16="http://schemas.microsoft.com/office/drawing/2014/main" val="3148057884"/>
                    </a:ext>
                  </a:extLst>
                </a:gridCol>
                <a:gridCol w="2144336">
                  <a:extLst>
                    <a:ext uri="{9D8B030D-6E8A-4147-A177-3AD203B41FA5}">
                      <a16:colId xmlns:a16="http://schemas.microsoft.com/office/drawing/2014/main" val="1516209173"/>
                    </a:ext>
                  </a:extLst>
                </a:gridCol>
                <a:gridCol w="2967987">
                  <a:extLst>
                    <a:ext uri="{9D8B030D-6E8A-4147-A177-3AD203B41FA5}">
                      <a16:colId xmlns:a16="http://schemas.microsoft.com/office/drawing/2014/main" val="750444812"/>
                    </a:ext>
                  </a:extLst>
                </a:gridCol>
                <a:gridCol w="2918284">
                  <a:extLst>
                    <a:ext uri="{9D8B030D-6E8A-4147-A177-3AD203B41FA5}">
                      <a16:colId xmlns:a16="http://schemas.microsoft.com/office/drawing/2014/main" val="4110778212"/>
                    </a:ext>
                  </a:extLst>
                </a:gridCol>
              </a:tblGrid>
              <a:tr h="532145">
                <a:tc>
                  <a:txBody>
                    <a:bodyPr/>
                    <a:lstStyle/>
                    <a:p>
                      <a:pPr algn="l" fontAlgn="b"/>
                      <a:r>
                        <a:rPr lang="en-US" b="1" dirty="0">
                          <a:solidFill>
                            <a:srgbClr val="3B3B3B"/>
                          </a:solidFill>
                          <a:effectLst/>
                        </a:rPr>
                        <a:t>Characteristic</a:t>
                      </a:r>
                    </a:p>
                  </a:txBody>
                  <a:tcPr anchor="b">
                    <a:lnL w="7620" cap="flat" cmpd="sng" algn="ctr">
                      <a:solidFill>
                        <a:srgbClr val="A0F2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6007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0F2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01C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b="1">
                          <a:solidFill>
                            <a:srgbClr val="3B3B3B"/>
                          </a:solidFill>
                          <a:effectLst/>
                        </a:rPr>
                        <a:t>Proven: IEEE 5-Bus</a:t>
                      </a:r>
                    </a:p>
                  </a:txBody>
                  <a:tcPr anchor="b">
                    <a:lnL w="7620" cap="flat" cmpd="sng" algn="ctr">
                      <a:solidFill>
                        <a:srgbClr val="6007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6007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0F2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01C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b="1">
                          <a:solidFill>
                            <a:srgbClr val="3B3B3B"/>
                          </a:solidFill>
                          <a:effectLst/>
                        </a:rPr>
                        <a:t>Proposed: 177-Bus Real System</a:t>
                      </a:r>
                    </a:p>
                  </a:txBody>
                  <a:tcPr anchor="b">
                    <a:lnL w="7620" cap="flat" cmpd="sng" algn="ctr">
                      <a:solidFill>
                        <a:srgbClr val="6007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601C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6007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020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b="1">
                          <a:solidFill>
                            <a:srgbClr val="3B3B3B"/>
                          </a:solidFill>
                          <a:effectLst/>
                        </a:rPr>
                        <a:t>Scaling Factor</a:t>
                      </a:r>
                    </a:p>
                  </a:txBody>
                  <a:tcPr anchor="b">
                    <a:lnL w="7620" cap="flat" cmpd="sng" algn="ctr">
                      <a:solidFill>
                        <a:srgbClr val="601C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601C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601C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029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2049681"/>
                  </a:ext>
                </a:extLst>
              </a:tr>
              <a:tr h="532145">
                <a:tc>
                  <a:txBody>
                    <a:bodyPr/>
                    <a:lstStyle/>
                    <a:p>
                      <a:pPr algn="l" fontAlgn="base"/>
                      <a:r>
                        <a:rPr lang="en-US" b="1">
                          <a:effectLst/>
                        </a:rPr>
                        <a:t>Network Size</a:t>
                      </a:r>
                      <a:endParaRPr lang="en-US">
                        <a:effectLst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A0F2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6007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01C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01C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>
                          <a:effectLst/>
                        </a:rPr>
                        <a:t>5 buses</a:t>
                      </a:r>
                    </a:p>
                  </a:txBody>
                  <a:tcPr anchor="ctr">
                    <a:lnL w="7620" cap="flat" cmpd="sng" algn="ctr">
                      <a:solidFill>
                        <a:srgbClr val="6007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6007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01C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01C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b="1">
                          <a:effectLst/>
                        </a:rPr>
                        <a:t>178 buses</a:t>
                      </a:r>
                      <a:endParaRPr lang="en-US">
                        <a:effectLst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6007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601C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020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020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b="1">
                          <a:effectLst/>
                        </a:rPr>
                        <a:t>35.6x</a:t>
                      </a:r>
                      <a:r>
                        <a:rPr lang="en-US">
                          <a:effectLst/>
                        </a:rPr>
                        <a:t> larger 📈</a:t>
                      </a:r>
                    </a:p>
                  </a:txBody>
                  <a:tcPr anchor="ctr">
                    <a:lnL w="7620" cap="flat" cmpd="sng" algn="ctr">
                      <a:solidFill>
                        <a:srgbClr val="601C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601C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029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029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533274"/>
                  </a:ext>
                </a:extLst>
              </a:tr>
              <a:tr h="532145">
                <a:tc>
                  <a:txBody>
                    <a:bodyPr/>
                    <a:lstStyle/>
                    <a:p>
                      <a:pPr algn="l" fontAlgn="base"/>
                      <a:r>
                        <a:rPr lang="en-US" b="1">
                          <a:effectLst/>
                        </a:rPr>
                        <a:t>Transmission Lines</a:t>
                      </a:r>
                      <a:endParaRPr lang="en-US">
                        <a:effectLst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A0F2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6007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01C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01C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>
                          <a:effectLst/>
                        </a:rPr>
                        <a:t>8 lines</a:t>
                      </a:r>
                    </a:p>
                  </a:txBody>
                  <a:tcPr anchor="ctr">
                    <a:lnL w="7620" cap="flat" cmpd="sng" algn="ctr">
                      <a:solidFill>
                        <a:srgbClr val="6007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6007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01C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01C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b="1">
                          <a:effectLst/>
                        </a:rPr>
                        <a:t>176 lines</a:t>
                      </a:r>
                      <a:endParaRPr lang="en-US">
                        <a:effectLst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6007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601C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020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020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b="1">
                          <a:effectLst/>
                        </a:rPr>
                        <a:t>22x</a:t>
                      </a:r>
                      <a:r>
                        <a:rPr lang="en-US">
                          <a:effectLst/>
                        </a:rPr>
                        <a:t> more complex 📈</a:t>
                      </a:r>
                    </a:p>
                  </a:txBody>
                  <a:tcPr anchor="ctr">
                    <a:lnL w="7620" cap="flat" cmpd="sng" algn="ctr">
                      <a:solidFill>
                        <a:srgbClr val="601C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601C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029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029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9679674"/>
                  </a:ext>
                </a:extLst>
              </a:tr>
              <a:tr h="532145">
                <a:tc>
                  <a:txBody>
                    <a:bodyPr/>
                    <a:lstStyle/>
                    <a:p>
                      <a:pPr algn="l" fontAlgn="base"/>
                      <a:r>
                        <a:rPr lang="en-US" b="1">
                          <a:effectLst/>
                        </a:rPr>
                        <a:t>Load Points</a:t>
                      </a:r>
                      <a:endParaRPr lang="en-US">
                        <a:effectLst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A0F2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6007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01C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01C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>
                          <a:effectLst/>
                        </a:rPr>
                        <a:t>11 loads</a:t>
                      </a:r>
                    </a:p>
                  </a:txBody>
                  <a:tcPr anchor="ctr">
                    <a:lnL w="7620" cap="flat" cmpd="sng" algn="ctr">
                      <a:solidFill>
                        <a:srgbClr val="6007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6007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01C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01C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b="1">
                          <a:effectLst/>
                        </a:rPr>
                        <a:t>66 loads</a:t>
                      </a:r>
                      <a:endParaRPr lang="en-US">
                        <a:effectLst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6007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601C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020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020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b="1">
                          <a:effectLst/>
                        </a:rPr>
                        <a:t>6x</a:t>
                      </a:r>
                      <a:r>
                        <a:rPr lang="en-US">
                          <a:effectLst/>
                        </a:rPr>
                        <a:t> more demand 📈</a:t>
                      </a:r>
                    </a:p>
                  </a:txBody>
                  <a:tcPr anchor="ctr">
                    <a:lnL w="7620" cap="flat" cmpd="sng" algn="ctr">
                      <a:solidFill>
                        <a:srgbClr val="601C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601C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029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029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8187595"/>
                  </a:ext>
                </a:extLst>
              </a:tr>
              <a:tr h="931253">
                <a:tc>
                  <a:txBody>
                    <a:bodyPr/>
                    <a:lstStyle/>
                    <a:p>
                      <a:pPr algn="l" fontAlgn="base"/>
                      <a:r>
                        <a:rPr lang="en-US" b="1">
                          <a:effectLst/>
                        </a:rPr>
                        <a:t>Control Complexity</a:t>
                      </a:r>
                      <a:endParaRPr lang="en-US">
                        <a:effectLst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A01C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020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01C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033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>
                          <a:effectLst/>
                        </a:rPr>
                        <a:t>48 discrete actions</a:t>
                      </a:r>
                    </a:p>
                  </a:txBody>
                  <a:tcPr anchor="ctr">
                    <a:lnL w="7620" cap="flat" cmpd="sng" algn="ctr">
                      <a:solidFill>
                        <a:srgbClr val="A020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020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01C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033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b="1">
                          <a:effectLst/>
                        </a:rPr>
                        <a:t>~800 actions</a:t>
                      </a:r>
                      <a:r>
                        <a:rPr lang="en-US">
                          <a:effectLst/>
                        </a:rPr>
                        <a:t> (est.)</a:t>
                      </a:r>
                    </a:p>
                  </a:txBody>
                  <a:tcPr anchor="ctr">
                    <a:lnL w="7620" cap="flat" cmpd="sng" algn="ctr">
                      <a:solidFill>
                        <a:srgbClr val="A020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029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020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6041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b="1" dirty="0">
                          <a:effectLst/>
                        </a:rPr>
                        <a:t>16.7x</a:t>
                      </a:r>
                      <a:r>
                        <a:rPr lang="en-US" dirty="0">
                          <a:effectLst/>
                        </a:rPr>
                        <a:t> harder 📈</a:t>
                      </a:r>
                    </a:p>
                  </a:txBody>
                  <a:tcPr anchor="ctr">
                    <a:lnL w="7620" cap="flat" cmpd="sng" algn="ctr">
                      <a:solidFill>
                        <a:srgbClr val="E029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029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029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6042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4218131"/>
                  </a:ext>
                </a:extLst>
              </a:tr>
              <a:tr h="931253">
                <a:tc>
                  <a:txBody>
                    <a:bodyPr/>
                    <a:lstStyle/>
                    <a:p>
                      <a:pPr algn="l" fontAlgn="base"/>
                      <a:r>
                        <a:rPr lang="en-US" b="1">
                          <a:effectLst/>
                        </a:rPr>
                        <a:t>State Space</a:t>
                      </a:r>
                      <a:endParaRPr lang="en-US">
                        <a:effectLst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E033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6041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033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06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>
                          <a:effectLst/>
                        </a:rPr>
                        <a:t>288 dimensions</a:t>
                      </a:r>
                    </a:p>
                  </a:txBody>
                  <a:tcPr anchor="ctr">
                    <a:lnL w="7620" cap="flat" cmpd="sng" algn="ctr">
                      <a:solidFill>
                        <a:srgbClr val="6041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6041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033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06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b="1">
                          <a:effectLst/>
                        </a:rPr>
                        <a:t>~2000 dimensions</a:t>
                      </a:r>
                      <a:r>
                        <a:rPr lang="en-US">
                          <a:effectLst/>
                        </a:rPr>
                        <a:t> (est.)</a:t>
                      </a:r>
                    </a:p>
                  </a:txBody>
                  <a:tcPr anchor="ctr">
                    <a:lnL w="7620" cap="flat" cmpd="sng" algn="ctr">
                      <a:solidFill>
                        <a:srgbClr val="6041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6042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6041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06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b="1" dirty="0">
                          <a:effectLst/>
                        </a:rPr>
                        <a:t>6.9x</a:t>
                      </a:r>
                      <a:r>
                        <a:rPr lang="en-US" dirty="0">
                          <a:effectLst/>
                        </a:rPr>
                        <a:t> richer 📈</a:t>
                      </a:r>
                    </a:p>
                  </a:txBody>
                  <a:tcPr anchor="ctr">
                    <a:lnL w="7620" cap="flat" cmpd="sng" algn="ctr">
                      <a:solidFill>
                        <a:srgbClr val="6042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6042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6042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06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79898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311081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DF434-28DB-4621-A497-D62C41CE0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3027" y="-50379"/>
            <a:ext cx="11095890" cy="991672"/>
          </a:xfrm>
        </p:spPr>
        <p:txBody>
          <a:bodyPr/>
          <a:lstStyle/>
          <a:p>
            <a:pPr algn="l"/>
            <a:r>
              <a:rPr lang="en-US" sz="2800" b="1" i="0" dirty="0">
                <a:solidFill>
                  <a:srgbClr val="3B3B3B"/>
                </a:solidFill>
                <a:effectLst/>
                <a:latin typeface="Segoe WPC"/>
              </a:rPr>
              <a:t>Key Finding from Prior Work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08C962-ED86-4AF1-958D-20144A2EF77A}"/>
              </a:ext>
            </a:extLst>
          </p:cNvPr>
          <p:cNvSpPr txBox="1"/>
          <p:nvPr/>
        </p:nvSpPr>
        <p:spPr>
          <a:xfrm>
            <a:off x="797859" y="1416424"/>
            <a:ext cx="834614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0" dirty="0">
                <a:solidFill>
                  <a:srgbClr val="3B3B3B"/>
                </a:solidFill>
                <a:effectLst/>
                <a:latin typeface="Segoe WPC"/>
              </a:rPr>
              <a:t>LLM priors accelerate RL training by 40% without sacrificing performance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0" dirty="0">
                <a:solidFill>
                  <a:srgbClr val="3B3B3B"/>
                </a:solidFill>
                <a:effectLst/>
                <a:latin typeface="Segoe WPC"/>
              </a:rPr>
              <a:t>Multi-objective optimization balances safety + economics successfully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B3B3B"/>
                </a:solidFill>
                <a:latin typeface="Segoe WPC"/>
              </a:rPr>
              <a:t>S</a:t>
            </a:r>
            <a:r>
              <a:rPr lang="en-US" i="0" dirty="0">
                <a:solidFill>
                  <a:srgbClr val="3B3B3B"/>
                </a:solidFill>
                <a:effectLst/>
                <a:latin typeface="Segoe WPC"/>
              </a:rPr>
              <a:t>ystem achieves 100% success rate with zero line overloads</a:t>
            </a:r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69C7586-5429-4458-812A-C1236F8AFB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7463809"/>
              </p:ext>
            </p:extLst>
          </p:nvPr>
        </p:nvGraphicFramePr>
        <p:xfrm>
          <a:off x="863026" y="2598318"/>
          <a:ext cx="9123655" cy="2959800"/>
        </p:xfrm>
        <a:graphic>
          <a:graphicData uri="http://schemas.openxmlformats.org/drawingml/2006/table">
            <a:tbl>
              <a:tblPr/>
              <a:tblGrid>
                <a:gridCol w="1824731">
                  <a:extLst>
                    <a:ext uri="{9D8B030D-6E8A-4147-A177-3AD203B41FA5}">
                      <a16:colId xmlns:a16="http://schemas.microsoft.com/office/drawing/2014/main" val="3291574770"/>
                    </a:ext>
                  </a:extLst>
                </a:gridCol>
                <a:gridCol w="1824731">
                  <a:extLst>
                    <a:ext uri="{9D8B030D-6E8A-4147-A177-3AD203B41FA5}">
                      <a16:colId xmlns:a16="http://schemas.microsoft.com/office/drawing/2014/main" val="2939760727"/>
                    </a:ext>
                  </a:extLst>
                </a:gridCol>
                <a:gridCol w="1824731">
                  <a:extLst>
                    <a:ext uri="{9D8B030D-6E8A-4147-A177-3AD203B41FA5}">
                      <a16:colId xmlns:a16="http://schemas.microsoft.com/office/drawing/2014/main" val="317233174"/>
                    </a:ext>
                  </a:extLst>
                </a:gridCol>
                <a:gridCol w="1824731">
                  <a:extLst>
                    <a:ext uri="{9D8B030D-6E8A-4147-A177-3AD203B41FA5}">
                      <a16:colId xmlns:a16="http://schemas.microsoft.com/office/drawing/2014/main" val="4016941159"/>
                    </a:ext>
                  </a:extLst>
                </a:gridCol>
                <a:gridCol w="1824731">
                  <a:extLst>
                    <a:ext uri="{9D8B030D-6E8A-4147-A177-3AD203B41FA5}">
                      <a16:colId xmlns:a16="http://schemas.microsoft.com/office/drawing/2014/main" val="1776901908"/>
                    </a:ext>
                  </a:extLst>
                </a:gridCol>
              </a:tblGrid>
              <a:tr h="591960">
                <a:tc>
                  <a:txBody>
                    <a:bodyPr/>
                    <a:lstStyle/>
                    <a:p>
                      <a:pPr algn="l" fontAlgn="b"/>
                      <a:r>
                        <a:rPr lang="en-US" b="1">
                          <a:solidFill>
                            <a:srgbClr val="3B3B3B"/>
                          </a:solidFill>
                          <a:effectLst/>
                        </a:rPr>
                        <a:t>Metric</a:t>
                      </a:r>
                    </a:p>
                  </a:txBody>
                  <a:tcPr anchor="b">
                    <a:lnL w="7620" cap="flat" cmpd="sng" algn="ctr">
                      <a:solidFill>
                        <a:srgbClr val="60B1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60B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60B1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60CA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b="1">
                          <a:solidFill>
                            <a:srgbClr val="3B3B3B"/>
                          </a:solidFill>
                          <a:effectLst/>
                        </a:rPr>
                        <a:t>Pure PPO</a:t>
                      </a:r>
                    </a:p>
                  </a:txBody>
                  <a:tcPr anchor="b">
                    <a:lnL w="7620" cap="flat" cmpd="sng" algn="ctr">
                      <a:solidFill>
                        <a:srgbClr val="60B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0B8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60B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0C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b="1">
                          <a:solidFill>
                            <a:srgbClr val="3B3B3B"/>
                          </a:solidFill>
                          <a:effectLst/>
                        </a:rPr>
                        <a:t>Pure LLM</a:t>
                      </a:r>
                    </a:p>
                  </a:txBody>
                  <a:tcPr anchor="b">
                    <a:lnL w="7620" cap="flat" cmpd="sng" algn="ctr">
                      <a:solidFill>
                        <a:srgbClr val="E0B8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0B9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0B8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0DE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b="1" dirty="0">
                          <a:solidFill>
                            <a:srgbClr val="3B3B3B"/>
                          </a:solidFill>
                          <a:effectLst/>
                        </a:rPr>
                        <a:t>PPO + LLM</a:t>
                      </a:r>
                    </a:p>
                  </a:txBody>
                  <a:tcPr anchor="b">
                    <a:lnL w="7620" cap="flat" cmpd="sng" algn="ctr">
                      <a:solidFill>
                        <a:srgbClr val="20B9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0C5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0B9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0DA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b="1">
                          <a:solidFill>
                            <a:srgbClr val="3B3B3B"/>
                          </a:solidFill>
                          <a:effectLst/>
                        </a:rPr>
                        <a:t>Proven Benefit</a:t>
                      </a:r>
                    </a:p>
                  </a:txBody>
                  <a:tcPr anchor="b">
                    <a:lnL w="7620" cap="flat" cmpd="sng" algn="ctr">
                      <a:solidFill>
                        <a:srgbClr val="A0C5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0C5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0C5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60DC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5666894"/>
                  </a:ext>
                </a:extLst>
              </a:tr>
              <a:tr h="591960">
                <a:tc>
                  <a:txBody>
                    <a:bodyPr/>
                    <a:lstStyle/>
                    <a:p>
                      <a:pPr algn="l" fontAlgn="base"/>
                      <a:r>
                        <a:rPr lang="en-US" b="1">
                          <a:effectLst/>
                        </a:rPr>
                        <a:t>Success Rate</a:t>
                      </a:r>
                      <a:endParaRPr lang="en-US">
                        <a:effectLst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60CA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0C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60CA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0DF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>
                          <a:effectLst/>
                        </a:rPr>
                        <a:t>100%</a:t>
                      </a:r>
                    </a:p>
                  </a:txBody>
                  <a:tcPr anchor="ctr">
                    <a:lnL w="7620" cap="flat" cmpd="sng" algn="ctr">
                      <a:solidFill>
                        <a:srgbClr val="20C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0DE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0C4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0EB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>
                          <a:effectLst/>
                        </a:rPr>
                        <a:t>65%</a:t>
                      </a:r>
                    </a:p>
                  </a:txBody>
                  <a:tcPr anchor="ctr">
                    <a:lnL w="7620" cap="flat" cmpd="sng" algn="ctr">
                      <a:solidFill>
                        <a:srgbClr val="E0DE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0DA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0DE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0E3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b="1">
                          <a:effectLst/>
                        </a:rPr>
                        <a:t>100%</a:t>
                      </a:r>
                      <a:endParaRPr lang="en-US">
                        <a:effectLst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20DA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60DC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0DA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0EC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>
                          <a:effectLst/>
                        </a:rPr>
                        <a:t>Safe control ✅</a:t>
                      </a:r>
                    </a:p>
                  </a:txBody>
                  <a:tcPr anchor="ctr">
                    <a:lnL w="7620" cap="flat" cmpd="sng" algn="ctr">
                      <a:solidFill>
                        <a:srgbClr val="60DC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60DC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60DC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60E2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312281"/>
                  </a:ext>
                </a:extLst>
              </a:tr>
              <a:tr h="591960">
                <a:tc>
                  <a:txBody>
                    <a:bodyPr/>
                    <a:lstStyle/>
                    <a:p>
                      <a:pPr algn="l" fontAlgn="base"/>
                      <a:r>
                        <a:rPr lang="en-US" b="1">
                          <a:effectLst/>
                        </a:rPr>
                        <a:t>Training Speed</a:t>
                      </a:r>
                      <a:endParaRPr lang="en-US">
                        <a:effectLst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20DF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0EB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0DF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60E2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>
                          <a:effectLst/>
                        </a:rPr>
                        <a:t>5,000 episodes</a:t>
                      </a:r>
                    </a:p>
                  </a:txBody>
                  <a:tcPr anchor="ctr">
                    <a:lnL w="7620" cap="flat" cmpd="sng" algn="ctr">
                      <a:solidFill>
                        <a:srgbClr val="E0EB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0E3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0EB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60FD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>
                          <a:effectLst/>
                        </a:rPr>
                        <a:t>N/A</a:t>
                      </a:r>
                    </a:p>
                  </a:txBody>
                  <a:tcPr anchor="ctr">
                    <a:lnL w="7620" cap="flat" cmpd="sng" algn="ctr">
                      <a:solidFill>
                        <a:srgbClr val="E0E3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0EC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0E3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60F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b="1">
                          <a:effectLst/>
                        </a:rPr>
                        <a:t>3,000 episodes</a:t>
                      </a:r>
                      <a:endParaRPr lang="en-US">
                        <a:effectLst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E0EC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60E2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0EC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0FB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b="1">
                          <a:effectLst/>
                        </a:rPr>
                        <a:t>40% faster</a:t>
                      </a:r>
                      <a:r>
                        <a:rPr lang="en-US">
                          <a:effectLst/>
                        </a:rPr>
                        <a:t> ✅</a:t>
                      </a:r>
                    </a:p>
                  </a:txBody>
                  <a:tcPr anchor="ctr">
                    <a:lnL w="7620" cap="flat" cmpd="sng" algn="ctr">
                      <a:solidFill>
                        <a:srgbClr val="60E2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60E2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60E2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0F1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5630170"/>
                  </a:ext>
                </a:extLst>
              </a:tr>
              <a:tr h="591960">
                <a:tc>
                  <a:txBody>
                    <a:bodyPr/>
                    <a:lstStyle/>
                    <a:p>
                      <a:pPr algn="l" fontAlgn="base"/>
                      <a:r>
                        <a:rPr lang="en-US" b="1">
                          <a:effectLst/>
                        </a:rPr>
                        <a:t>Performance</a:t>
                      </a:r>
                      <a:endParaRPr lang="en-US">
                        <a:effectLst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60E2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60FD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60E2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0F3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>
                          <a:effectLst/>
                        </a:rPr>
                        <a:t>16.8 reward</a:t>
                      </a:r>
                    </a:p>
                  </a:txBody>
                  <a:tcPr anchor="ctr">
                    <a:lnL w="7620" cap="flat" cmpd="sng" algn="ctr">
                      <a:solidFill>
                        <a:srgbClr val="60FD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60F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60FD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0F2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>
                          <a:effectLst/>
                        </a:rPr>
                        <a:t>10.5 reward</a:t>
                      </a:r>
                    </a:p>
                  </a:txBody>
                  <a:tcPr anchor="ctr">
                    <a:lnL w="7620" cap="flat" cmpd="sng" algn="ctr">
                      <a:solidFill>
                        <a:srgbClr val="60F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0FB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60F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0FA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b="1" dirty="0">
                          <a:effectLst/>
                        </a:rPr>
                        <a:t>18.5 reward</a:t>
                      </a:r>
                      <a:endParaRPr lang="en-US" dirty="0">
                        <a:effectLst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A0FB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0F1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0FB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000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b="1">
                          <a:effectLst/>
                        </a:rPr>
                        <a:t>10% better</a:t>
                      </a:r>
                      <a:r>
                        <a:rPr lang="en-US">
                          <a:effectLst/>
                        </a:rPr>
                        <a:t> ✅</a:t>
                      </a:r>
                    </a:p>
                  </a:txBody>
                  <a:tcPr anchor="ctr">
                    <a:lnL w="7620" cap="flat" cmpd="sng" algn="ctr">
                      <a:solidFill>
                        <a:srgbClr val="A0F1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0F1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0F1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006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1502365"/>
                  </a:ext>
                </a:extLst>
              </a:tr>
              <a:tr h="591960">
                <a:tc>
                  <a:txBody>
                    <a:bodyPr/>
                    <a:lstStyle/>
                    <a:p>
                      <a:pPr algn="l" fontAlgn="base"/>
                      <a:r>
                        <a:rPr lang="en-US" b="1">
                          <a:effectLst/>
                        </a:rPr>
                        <a:t>Stability</a:t>
                      </a:r>
                      <a:endParaRPr lang="en-US">
                        <a:effectLst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20F3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0F2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0F3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0F3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l-GR">
                          <a:effectLst/>
                        </a:rPr>
                        <a:t>σ = 2.1</a:t>
                      </a:r>
                    </a:p>
                  </a:txBody>
                  <a:tcPr anchor="ctr">
                    <a:lnL w="7620" cap="flat" cmpd="sng" algn="ctr">
                      <a:solidFill>
                        <a:srgbClr val="20F2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0FA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0F2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0F2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l-GR">
                          <a:effectLst/>
                        </a:rPr>
                        <a:t>σ = 4.2</a:t>
                      </a:r>
                    </a:p>
                  </a:txBody>
                  <a:tcPr anchor="ctr">
                    <a:lnL w="7620" cap="flat" cmpd="sng" algn="ctr">
                      <a:solidFill>
                        <a:srgbClr val="E0FA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000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0FA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0FA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l-GR" b="1" dirty="0">
                          <a:effectLst/>
                        </a:rPr>
                        <a:t>σ = 1.8</a:t>
                      </a:r>
                      <a:endParaRPr lang="el-GR" dirty="0">
                        <a:effectLst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2000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006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000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000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dirty="0">
                          <a:effectLst/>
                        </a:rPr>
                        <a:t>Most stable ✅</a:t>
                      </a:r>
                    </a:p>
                  </a:txBody>
                  <a:tcPr anchor="ctr">
                    <a:lnL w="7620" cap="flat" cmpd="sng" algn="ctr">
                      <a:solidFill>
                        <a:srgbClr val="2006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006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006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006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69130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989840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DF434-28DB-4621-A497-D62C41CE0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3027" y="-50379"/>
            <a:ext cx="11095890" cy="991672"/>
          </a:xfrm>
        </p:spPr>
        <p:txBody>
          <a:bodyPr/>
          <a:lstStyle/>
          <a:p>
            <a:pPr algn="l"/>
            <a:r>
              <a:rPr lang="en-US" sz="2400" b="1" i="0" dirty="0">
                <a:solidFill>
                  <a:srgbClr val="3B3B3B"/>
                </a:solidFill>
                <a:effectLst/>
                <a:latin typeface="Segoe WPC"/>
              </a:rPr>
              <a:t>What We Have vs What We Need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03B7CEE-4F1C-4C82-973F-1B005693EC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8649400"/>
              </p:ext>
            </p:extLst>
          </p:nvPr>
        </p:nvGraphicFramePr>
        <p:xfrm>
          <a:off x="863026" y="1369804"/>
          <a:ext cx="8863680" cy="3766973"/>
        </p:xfrm>
        <a:graphic>
          <a:graphicData uri="http://schemas.openxmlformats.org/drawingml/2006/table">
            <a:tbl>
              <a:tblPr/>
              <a:tblGrid>
                <a:gridCol w="2215920">
                  <a:extLst>
                    <a:ext uri="{9D8B030D-6E8A-4147-A177-3AD203B41FA5}">
                      <a16:colId xmlns:a16="http://schemas.microsoft.com/office/drawing/2014/main" val="3826603529"/>
                    </a:ext>
                  </a:extLst>
                </a:gridCol>
                <a:gridCol w="2215920">
                  <a:extLst>
                    <a:ext uri="{9D8B030D-6E8A-4147-A177-3AD203B41FA5}">
                      <a16:colId xmlns:a16="http://schemas.microsoft.com/office/drawing/2014/main" val="351926873"/>
                    </a:ext>
                  </a:extLst>
                </a:gridCol>
                <a:gridCol w="2215920">
                  <a:extLst>
                    <a:ext uri="{9D8B030D-6E8A-4147-A177-3AD203B41FA5}">
                      <a16:colId xmlns:a16="http://schemas.microsoft.com/office/drawing/2014/main" val="232220698"/>
                    </a:ext>
                  </a:extLst>
                </a:gridCol>
                <a:gridCol w="2215920">
                  <a:extLst>
                    <a:ext uri="{9D8B030D-6E8A-4147-A177-3AD203B41FA5}">
                      <a16:colId xmlns:a16="http://schemas.microsoft.com/office/drawing/2014/main" val="3826987418"/>
                    </a:ext>
                  </a:extLst>
                </a:gridCol>
              </a:tblGrid>
              <a:tr h="454502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dirty="0">
                          <a:solidFill>
                            <a:srgbClr val="3B3B3B"/>
                          </a:solidFill>
                          <a:effectLst/>
                        </a:rPr>
                        <a:t>Component</a:t>
                      </a:r>
                    </a:p>
                  </a:txBody>
                  <a:tcPr marL="70183" marR="70183" marT="35091" marB="35091" anchor="b">
                    <a:lnL w="7620" cap="flat" cmpd="sng" algn="ctr">
                      <a:solidFill>
                        <a:srgbClr val="E0C5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60D1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0C5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0F3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>
                          <a:solidFill>
                            <a:srgbClr val="3B3B3B"/>
                          </a:solidFill>
                          <a:effectLst/>
                        </a:rPr>
                        <a:t>Status</a:t>
                      </a:r>
                    </a:p>
                  </a:txBody>
                  <a:tcPr marL="70183" marR="70183" marT="35091" marB="35091" anchor="b">
                    <a:lnL w="7620" cap="flat" cmpd="sng" algn="ctr">
                      <a:solidFill>
                        <a:srgbClr val="60D1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60CD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60D1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0F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>
                          <a:solidFill>
                            <a:srgbClr val="3B3B3B"/>
                          </a:solidFill>
                          <a:effectLst/>
                        </a:rPr>
                        <a:t>Current</a:t>
                      </a:r>
                    </a:p>
                  </a:txBody>
                  <a:tcPr marL="70183" marR="70183" marT="35091" marB="35091" anchor="b">
                    <a:lnL w="7620" cap="flat" cmpd="sng" algn="ctr">
                      <a:solidFill>
                        <a:srgbClr val="60CD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0C8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60CD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60010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>
                          <a:solidFill>
                            <a:srgbClr val="3B3B3B"/>
                          </a:solidFill>
                          <a:effectLst/>
                        </a:rPr>
                        <a:t>Required</a:t>
                      </a:r>
                    </a:p>
                  </a:txBody>
                  <a:tcPr marL="70183" marR="70183" marT="35091" marB="35091" anchor="b">
                    <a:lnL w="7620" cap="flat" cmpd="sng" algn="ctr">
                      <a:solidFill>
                        <a:srgbClr val="A0C8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60E7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0C8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0FF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9248566"/>
                  </a:ext>
                </a:extLst>
              </a:tr>
              <a:tr h="454502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400" b="1" dirty="0">
                          <a:effectLst/>
                        </a:rPr>
                        <a:t>Topology</a:t>
                      </a:r>
                      <a:endParaRPr lang="en-US" sz="1400" dirty="0">
                        <a:effectLst/>
                      </a:endParaRPr>
                    </a:p>
                  </a:txBody>
                  <a:tcPr marL="70183" marR="70183" marT="35091" marB="35091" anchor="ctr">
                    <a:lnL w="7620" cap="flat" cmpd="sng" algn="ctr">
                      <a:solidFill>
                        <a:srgbClr val="A0F3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0F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0F3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0040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400">
                          <a:effectLst/>
                        </a:rPr>
                        <a:t>✅ Complete</a:t>
                      </a:r>
                    </a:p>
                  </a:txBody>
                  <a:tcPr marL="70183" marR="70183" marT="35091" marB="35091" anchor="ctr">
                    <a:lnL w="7620" cap="flat" cmpd="sng" algn="ctr">
                      <a:solidFill>
                        <a:srgbClr val="A0F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60010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0F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01E0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400">
                          <a:effectLst/>
                        </a:rPr>
                        <a:t>178 buses, 176 lines</a:t>
                      </a:r>
                    </a:p>
                  </a:txBody>
                  <a:tcPr marL="70183" marR="70183" marT="35091" marB="35091" anchor="ctr">
                    <a:lnL w="7620" cap="flat" cmpd="sng" algn="ctr">
                      <a:solidFill>
                        <a:srgbClr val="60010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0FF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60010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60220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400">
                          <a:effectLst/>
                        </a:rPr>
                        <a:t>✅ Have it</a:t>
                      </a:r>
                    </a:p>
                  </a:txBody>
                  <a:tcPr marL="70183" marR="70183" marT="35091" marB="35091" anchor="ctr">
                    <a:lnL w="7620" cap="flat" cmpd="sng" algn="ctr">
                      <a:solidFill>
                        <a:srgbClr val="A0FF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00C0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0FF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02E0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3939368"/>
                  </a:ext>
                </a:extLst>
              </a:tr>
              <a:tr h="454502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400" b="1" dirty="0">
                          <a:effectLst/>
                        </a:rPr>
                        <a:t>Line Parameters</a:t>
                      </a:r>
                      <a:endParaRPr lang="en-US" sz="1400" dirty="0">
                        <a:effectLst/>
                      </a:endParaRPr>
                    </a:p>
                  </a:txBody>
                  <a:tcPr marL="70183" marR="70183" marT="35091" marB="35091" anchor="ctr">
                    <a:lnL w="7620" cap="flat" cmpd="sng" algn="ctr">
                      <a:solidFill>
                        <a:srgbClr val="20040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01E0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0040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60420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400">
                          <a:effectLst/>
                        </a:rPr>
                        <a:t>✅ Complete</a:t>
                      </a:r>
                    </a:p>
                  </a:txBody>
                  <a:tcPr marL="70183" marR="70183" marT="35091" marB="35091" anchor="ctr">
                    <a:lnL w="7620" cap="flat" cmpd="sng" algn="ctr">
                      <a:solidFill>
                        <a:srgbClr val="A01E0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60220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01E0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0410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400">
                          <a:effectLst/>
                        </a:rPr>
                        <a:t>R, X, B values</a:t>
                      </a:r>
                    </a:p>
                  </a:txBody>
                  <a:tcPr marL="70183" marR="70183" marT="35091" marB="35091" anchor="ctr">
                    <a:lnL w="7620" cap="flat" cmpd="sng" algn="ctr">
                      <a:solidFill>
                        <a:srgbClr val="60220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02E0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60220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0570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400">
                          <a:effectLst/>
                        </a:rPr>
                        <a:t>✅ Have it</a:t>
                      </a:r>
                    </a:p>
                  </a:txBody>
                  <a:tcPr marL="70183" marR="70183" marT="35091" marB="35091" anchor="ctr">
                    <a:lnL w="7620" cap="flat" cmpd="sng" algn="ctr">
                      <a:solidFill>
                        <a:srgbClr val="202E0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0430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02E0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0560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4737390"/>
                  </a:ext>
                </a:extLst>
              </a:tr>
              <a:tr h="649655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400" b="1" dirty="0">
                          <a:effectLst/>
                        </a:rPr>
                        <a:t>Load Data</a:t>
                      </a:r>
                      <a:endParaRPr lang="en-US" sz="1400" dirty="0">
                        <a:effectLst/>
                      </a:endParaRPr>
                    </a:p>
                  </a:txBody>
                  <a:tcPr marL="70183" marR="70183" marT="35091" marB="35091" anchor="ctr">
                    <a:lnL w="7620" cap="flat" cmpd="sng" algn="ctr">
                      <a:solidFill>
                        <a:srgbClr val="60420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0410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60420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0560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400">
                          <a:effectLst/>
                        </a:rPr>
                        <a:t>⚠️ Verify</a:t>
                      </a:r>
                    </a:p>
                  </a:txBody>
                  <a:tcPr marL="70183" marR="70183" marT="35091" marB="35091" anchor="ctr">
                    <a:lnL w="7620" cap="flat" cmpd="sng" algn="ctr">
                      <a:solidFill>
                        <a:srgbClr val="A0410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0570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0410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0650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400">
                          <a:effectLst/>
                        </a:rPr>
                        <a:t>1.24 MW total</a:t>
                      </a:r>
                    </a:p>
                  </a:txBody>
                  <a:tcPr marL="70183" marR="70183" marT="35091" marB="35091" anchor="ctr">
                    <a:lnL w="7620" cap="flat" cmpd="sng" algn="ctr">
                      <a:solidFill>
                        <a:srgbClr val="A0570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0560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0570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06B0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400">
                          <a:effectLst/>
                        </a:rPr>
                        <a:t>Clarify scale</a:t>
                      </a:r>
                    </a:p>
                  </a:txBody>
                  <a:tcPr marL="70183" marR="70183" marT="35091" marB="35091" anchor="ctr">
                    <a:lnL w="7620" cap="flat" cmpd="sng" algn="ctr">
                      <a:solidFill>
                        <a:srgbClr val="20560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05F0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0560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0710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9230698"/>
                  </a:ext>
                </a:extLst>
              </a:tr>
              <a:tr h="649655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400" b="1" dirty="0">
                          <a:effectLst/>
                        </a:rPr>
                        <a:t>Generators</a:t>
                      </a:r>
                      <a:endParaRPr lang="en-US" sz="1400" dirty="0">
                        <a:effectLst/>
                      </a:endParaRPr>
                    </a:p>
                  </a:txBody>
                  <a:tcPr marL="70183" marR="70183" marT="35091" marB="35091" anchor="ctr">
                    <a:lnL w="7620" cap="flat" cmpd="sng" algn="ctr">
                      <a:solidFill>
                        <a:srgbClr val="20560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0650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0560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0850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400">
                          <a:effectLst/>
                        </a:rPr>
                        <a:t>❌ Insufficient</a:t>
                      </a:r>
                    </a:p>
                  </a:txBody>
                  <a:tcPr marL="70183" marR="70183" marT="35091" marB="35091" anchor="ctr">
                    <a:lnL w="7620" cap="flat" cmpd="sng" algn="ctr">
                      <a:solidFill>
                        <a:srgbClr val="20650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06B0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0650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0890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400">
                          <a:effectLst/>
                        </a:rPr>
                        <a:t>Only 1 generator</a:t>
                      </a:r>
                    </a:p>
                  </a:txBody>
                  <a:tcPr marL="70183" marR="70183" marT="35091" marB="35091" anchor="ctr">
                    <a:lnL w="7620" cap="flat" cmpd="sng" algn="ctr">
                      <a:solidFill>
                        <a:srgbClr val="206B0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0710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06B0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0900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400">
                          <a:effectLst/>
                        </a:rPr>
                        <a:t>3-5 generators</a:t>
                      </a:r>
                    </a:p>
                  </a:txBody>
                  <a:tcPr marL="70183" marR="70183" marT="35091" marB="35091" anchor="ctr">
                    <a:lnL w="7620" cap="flat" cmpd="sng" algn="ctr">
                      <a:solidFill>
                        <a:srgbClr val="20710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0770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0710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09C0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9267251"/>
                  </a:ext>
                </a:extLst>
              </a:tr>
              <a:tr h="649655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400" b="1" dirty="0">
                          <a:effectLst/>
                        </a:rPr>
                        <a:t>Thermal Limits</a:t>
                      </a:r>
                      <a:endParaRPr lang="en-US" sz="1400" dirty="0">
                        <a:effectLst/>
                      </a:endParaRPr>
                    </a:p>
                  </a:txBody>
                  <a:tcPr marL="70183" marR="70183" marT="35091" marB="35091" anchor="ctr">
                    <a:lnL w="7620" cap="flat" cmpd="sng" algn="ctr">
                      <a:solidFill>
                        <a:srgbClr val="A0850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0890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0850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0AD0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400">
                          <a:effectLst/>
                        </a:rPr>
                        <a:t>❌ Missing</a:t>
                      </a:r>
                    </a:p>
                  </a:txBody>
                  <a:tcPr marL="70183" marR="70183" marT="35091" marB="35091" anchor="ctr">
                    <a:lnL w="7620" cap="flat" cmpd="sng" algn="ctr">
                      <a:solidFill>
                        <a:srgbClr val="20890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0900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0890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0B10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400">
                          <a:effectLst/>
                        </a:rPr>
                        <a:t>None</a:t>
                      </a:r>
                    </a:p>
                  </a:txBody>
                  <a:tcPr marL="70183" marR="70183" marT="35091" marB="35091" anchor="ctr">
                    <a:lnL w="7620" cap="flat" cmpd="sng" algn="ctr">
                      <a:solidFill>
                        <a:srgbClr val="E0900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09C0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0900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60B80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400">
                          <a:effectLst/>
                        </a:rPr>
                        <a:t>MVA ratings for 176 lines</a:t>
                      </a:r>
                    </a:p>
                  </a:txBody>
                  <a:tcPr marL="70183" marR="70183" marT="35091" marB="35091" anchor="ctr">
                    <a:lnL w="7620" cap="flat" cmpd="sng" algn="ctr">
                      <a:solidFill>
                        <a:srgbClr val="E09C0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0980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09C0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0D10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5532176"/>
                  </a:ext>
                </a:extLst>
              </a:tr>
              <a:tr h="454502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400" b="1" dirty="0">
                          <a:effectLst/>
                        </a:rPr>
                        <a:t>Time-Series</a:t>
                      </a:r>
                      <a:endParaRPr lang="en-US" sz="1400" dirty="0">
                        <a:effectLst/>
                      </a:endParaRPr>
                    </a:p>
                  </a:txBody>
                  <a:tcPr marL="70183" marR="70183" marT="35091" marB="35091" anchor="ctr">
                    <a:lnL w="7620" cap="flat" cmpd="sng" algn="ctr">
                      <a:solidFill>
                        <a:srgbClr val="20AD0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0B10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0AD0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0AD0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400" dirty="0">
                          <a:effectLst/>
                        </a:rPr>
                        <a:t>❌ Missing</a:t>
                      </a:r>
                    </a:p>
                  </a:txBody>
                  <a:tcPr marL="70183" marR="70183" marT="35091" marB="35091" anchor="ctr">
                    <a:lnL w="7620" cap="flat" cmpd="sng" algn="ctr">
                      <a:solidFill>
                        <a:srgbClr val="A0B10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60B80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0B10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0B10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400" dirty="0">
                          <a:effectLst/>
                        </a:rPr>
                        <a:t>Static snapshot</a:t>
                      </a:r>
                    </a:p>
                  </a:txBody>
                  <a:tcPr marL="70183" marR="70183" marT="35091" marB="35091" anchor="ctr">
                    <a:lnL w="7620" cap="flat" cmpd="sng" algn="ctr">
                      <a:solidFill>
                        <a:srgbClr val="60B80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0D10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60B80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60B80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400" dirty="0">
                          <a:effectLst/>
                        </a:rPr>
                        <a:t>24-hour profiles</a:t>
                      </a:r>
                    </a:p>
                  </a:txBody>
                  <a:tcPr marL="70183" marR="70183" marT="35091" marB="35091" anchor="ctr">
                    <a:lnL w="7620" cap="flat" cmpd="sng" algn="ctr">
                      <a:solidFill>
                        <a:srgbClr val="E0D10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0DD0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0D10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0D10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3101169"/>
                  </a:ext>
                </a:extLst>
              </a:tr>
            </a:tbl>
          </a:graphicData>
        </a:graphic>
      </p:graphicFrame>
      <p:sp>
        <p:nvSpPr>
          <p:cNvPr id="4" name="Rectangle 1">
            <a:extLst>
              <a:ext uri="{FF2B5EF4-FFF2-40B4-BE49-F238E27FC236}">
                <a16:creationId xmlns:a16="http://schemas.microsoft.com/office/drawing/2014/main" id="{2E09BB68-3F1D-48E5-8C4B-52154ACE29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6625" y="180022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2D7A309-26D1-452A-9AD9-ADD36C8FBFC7}"/>
              </a:ext>
            </a:extLst>
          </p:cNvPr>
          <p:cNvSpPr txBox="1"/>
          <p:nvPr/>
        </p:nvSpPr>
        <p:spPr>
          <a:xfrm>
            <a:off x="744069" y="5454133"/>
            <a:ext cx="708211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solidFill>
                  <a:srgbClr val="3B3B3B"/>
                </a:solidFill>
                <a:effectLst/>
                <a:latin typeface="Segoe WPC"/>
              </a:rPr>
              <a:t>Blockers:</a:t>
            </a:r>
            <a:r>
              <a:rPr lang="en-US" b="0" i="0" dirty="0">
                <a:solidFill>
                  <a:srgbClr val="3B3B3B"/>
                </a:solidFill>
                <a:effectLst/>
                <a:latin typeface="Segoe WPC"/>
              </a:rPr>
              <a:t> Generator data and thermal limits must be added before training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43488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DF434-28DB-4621-A497-D62C41CE0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3027" y="-50379"/>
            <a:ext cx="11095890" cy="991672"/>
          </a:xfrm>
        </p:spPr>
        <p:txBody>
          <a:bodyPr/>
          <a:lstStyle/>
          <a:p>
            <a:pPr algn="l"/>
            <a:r>
              <a:rPr lang="en-US" sz="2800" b="1" i="0" dirty="0">
                <a:solidFill>
                  <a:srgbClr val="3B3B3B"/>
                </a:solidFill>
                <a:effectLst/>
                <a:latin typeface="Segoe WPC"/>
              </a:rPr>
              <a:t>Novel Aspects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03B7CEE-4F1C-4C82-973F-1B005693EC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3716881"/>
              </p:ext>
            </p:extLst>
          </p:nvPr>
        </p:nvGraphicFramePr>
        <p:xfrm>
          <a:off x="863026" y="1369804"/>
          <a:ext cx="9428457" cy="3312471"/>
        </p:xfrm>
        <a:graphic>
          <a:graphicData uri="http://schemas.openxmlformats.org/drawingml/2006/table">
            <a:tbl>
              <a:tblPr/>
              <a:tblGrid>
                <a:gridCol w="3142819">
                  <a:extLst>
                    <a:ext uri="{9D8B030D-6E8A-4147-A177-3AD203B41FA5}">
                      <a16:colId xmlns:a16="http://schemas.microsoft.com/office/drawing/2014/main" val="3826603529"/>
                    </a:ext>
                  </a:extLst>
                </a:gridCol>
                <a:gridCol w="3142819">
                  <a:extLst>
                    <a:ext uri="{9D8B030D-6E8A-4147-A177-3AD203B41FA5}">
                      <a16:colId xmlns:a16="http://schemas.microsoft.com/office/drawing/2014/main" val="351926873"/>
                    </a:ext>
                  </a:extLst>
                </a:gridCol>
                <a:gridCol w="3142819">
                  <a:extLst>
                    <a:ext uri="{9D8B030D-6E8A-4147-A177-3AD203B41FA5}">
                      <a16:colId xmlns:a16="http://schemas.microsoft.com/office/drawing/2014/main" val="232220698"/>
                    </a:ext>
                  </a:extLst>
                </a:gridCol>
              </a:tblGrid>
              <a:tr h="454502">
                <a:tc>
                  <a:txBody>
                    <a:bodyPr/>
                    <a:lstStyle/>
                    <a:p>
                      <a:pPr algn="l" fontAlgn="b"/>
                      <a:r>
                        <a:rPr lang="en-US" b="1" dirty="0">
                          <a:solidFill>
                            <a:srgbClr val="3B3B3B"/>
                          </a:solidFill>
                          <a:effectLst/>
                        </a:rPr>
                        <a:t>Contribution</a:t>
                      </a:r>
                    </a:p>
                  </a:txBody>
                  <a:tcPr anchor="b">
                    <a:lnL w="7620" cap="flat" cmpd="sng" algn="ctr">
                      <a:solidFill>
                        <a:srgbClr val="E0C5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60D1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0C5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0F3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b="1" dirty="0">
                          <a:solidFill>
                            <a:srgbClr val="3B3B3B"/>
                          </a:solidFill>
                          <a:effectLst/>
                        </a:rPr>
                        <a:t>Novelty</a:t>
                      </a:r>
                    </a:p>
                  </a:txBody>
                  <a:tcPr anchor="b">
                    <a:lnL w="7620" cap="flat" cmpd="sng" algn="ctr">
                      <a:solidFill>
                        <a:srgbClr val="60D1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60CD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60D1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0F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b="1" dirty="0">
                          <a:solidFill>
                            <a:srgbClr val="3B3B3B"/>
                          </a:solidFill>
                          <a:effectLst/>
                        </a:rPr>
                        <a:t>Significance</a:t>
                      </a:r>
                    </a:p>
                  </a:txBody>
                  <a:tcPr anchor="b">
                    <a:lnL w="7620" cap="flat" cmpd="sng" algn="ctr">
                      <a:solidFill>
                        <a:srgbClr val="60CD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0C8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60CD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60010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9248566"/>
                  </a:ext>
                </a:extLst>
              </a:tr>
              <a:tr h="454502">
                <a:tc>
                  <a:txBody>
                    <a:bodyPr/>
                    <a:lstStyle/>
                    <a:p>
                      <a:pPr algn="l" fontAlgn="base"/>
                      <a:r>
                        <a:rPr lang="en-US" b="1" dirty="0">
                          <a:effectLst/>
                        </a:rPr>
                        <a:t>Scalability Validation</a:t>
                      </a:r>
                      <a:endParaRPr lang="en-US" dirty="0">
                        <a:effectLst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A0F3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0F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0F3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0040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dirty="0">
                          <a:effectLst/>
                        </a:rPr>
                        <a:t>First </a:t>
                      </a:r>
                      <a:r>
                        <a:rPr lang="en-US" dirty="0" err="1">
                          <a:effectLst/>
                        </a:rPr>
                        <a:t>EffiRL</a:t>
                      </a:r>
                      <a:r>
                        <a:rPr lang="en-US" dirty="0">
                          <a:effectLst/>
                        </a:rPr>
                        <a:t> on 177-bus</a:t>
                      </a:r>
                    </a:p>
                  </a:txBody>
                  <a:tcPr anchor="ctr">
                    <a:lnL w="7620" cap="flat" cmpd="sng" algn="ctr">
                      <a:solidFill>
                        <a:srgbClr val="A0F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60010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0F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01E0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dirty="0">
                          <a:effectLst/>
                        </a:rPr>
                        <a:t>Proves method scales 35x</a:t>
                      </a:r>
                    </a:p>
                  </a:txBody>
                  <a:tcPr anchor="ctr">
                    <a:lnL w="7620" cap="flat" cmpd="sng" algn="ctr">
                      <a:solidFill>
                        <a:srgbClr val="60010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0FF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60010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60220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3939368"/>
                  </a:ext>
                </a:extLst>
              </a:tr>
              <a:tr h="454502">
                <a:tc>
                  <a:txBody>
                    <a:bodyPr/>
                    <a:lstStyle/>
                    <a:p>
                      <a:pPr algn="l" fontAlgn="base"/>
                      <a:r>
                        <a:rPr lang="en-US" b="1">
                          <a:effectLst/>
                        </a:rPr>
                        <a:t>Real-World Data</a:t>
                      </a:r>
                      <a:endParaRPr lang="en-US">
                        <a:effectLst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20040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01E0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0040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60420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dirty="0">
                          <a:effectLst/>
                        </a:rPr>
                        <a:t>Actual power system</a:t>
                      </a:r>
                    </a:p>
                  </a:txBody>
                  <a:tcPr anchor="ctr">
                    <a:lnL w="7620" cap="flat" cmpd="sng" algn="ctr">
                      <a:solidFill>
                        <a:srgbClr val="A01E0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60220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01E0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0410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>
                          <a:effectLst/>
                        </a:rPr>
                        <a:t>Beyond toy problems</a:t>
                      </a:r>
                    </a:p>
                  </a:txBody>
                  <a:tcPr anchor="ctr">
                    <a:lnL w="7620" cap="flat" cmpd="sng" algn="ctr">
                      <a:solidFill>
                        <a:srgbClr val="60220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02E0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60220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0570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4737390"/>
                  </a:ext>
                </a:extLst>
              </a:tr>
              <a:tr h="649655">
                <a:tc>
                  <a:txBody>
                    <a:bodyPr/>
                    <a:lstStyle/>
                    <a:p>
                      <a:pPr algn="l" fontAlgn="base"/>
                      <a:r>
                        <a:rPr lang="en-US" b="1">
                          <a:effectLst/>
                        </a:rPr>
                        <a:t>LLM Scaling Analysis</a:t>
                      </a:r>
                      <a:endParaRPr lang="en-US">
                        <a:effectLst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60420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0410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60420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0560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>
                          <a:effectLst/>
                        </a:rPr>
                        <a:t>Does LLM help more at scale?</a:t>
                      </a:r>
                    </a:p>
                  </a:txBody>
                  <a:tcPr anchor="ctr">
                    <a:lnL w="7620" cap="flat" cmpd="sng" algn="ctr">
                      <a:solidFill>
                        <a:srgbClr val="A0410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0570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0410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0650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>
                          <a:effectLst/>
                        </a:rPr>
                        <a:t>New insight</a:t>
                      </a:r>
                    </a:p>
                  </a:txBody>
                  <a:tcPr anchor="ctr">
                    <a:lnL w="7620" cap="flat" cmpd="sng" algn="ctr">
                      <a:solidFill>
                        <a:srgbClr val="A0570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0560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0570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06B0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9230698"/>
                  </a:ext>
                </a:extLst>
              </a:tr>
              <a:tr h="649655">
                <a:tc>
                  <a:txBody>
                    <a:bodyPr/>
                    <a:lstStyle/>
                    <a:p>
                      <a:pPr algn="l" fontAlgn="base"/>
                      <a:r>
                        <a:rPr lang="en-US" b="1">
                          <a:effectLst/>
                        </a:rPr>
                        <a:t>Deployment Framework</a:t>
                      </a:r>
                      <a:endParaRPr lang="en-US">
                        <a:effectLst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20560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0650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0560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0850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>
                          <a:effectLst/>
                        </a:rPr>
                        <a:t>Real-time integration</a:t>
                      </a:r>
                    </a:p>
                  </a:txBody>
                  <a:tcPr anchor="ctr">
                    <a:lnL w="7620" cap="flat" cmpd="sng" algn="ctr">
                      <a:solidFill>
                        <a:srgbClr val="20650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06B0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0650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0890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>
                          <a:effectLst/>
                        </a:rPr>
                        <a:t>Industry relevant</a:t>
                      </a:r>
                    </a:p>
                  </a:txBody>
                  <a:tcPr anchor="ctr">
                    <a:lnL w="7620" cap="flat" cmpd="sng" algn="ctr">
                      <a:solidFill>
                        <a:srgbClr val="206B0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0710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06B0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0900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9267251"/>
                  </a:ext>
                </a:extLst>
              </a:tr>
              <a:tr h="649655">
                <a:tc>
                  <a:txBody>
                    <a:bodyPr/>
                    <a:lstStyle/>
                    <a:p>
                      <a:pPr algn="l" fontAlgn="base"/>
                      <a:r>
                        <a:rPr lang="en-US" b="1">
                          <a:effectLst/>
                        </a:rPr>
                        <a:t>Benchmarks</a:t>
                      </a:r>
                      <a:endParaRPr lang="en-US">
                        <a:effectLst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A0850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0890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0850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0AD0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>
                          <a:effectLst/>
                        </a:rPr>
                        <a:t>Large-scale RL metrics</a:t>
                      </a:r>
                    </a:p>
                  </a:txBody>
                  <a:tcPr anchor="ctr">
                    <a:lnL w="7620" cap="flat" cmpd="sng" algn="ctr">
                      <a:solidFill>
                        <a:srgbClr val="20890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0900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0890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0B10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dirty="0">
                          <a:effectLst/>
                        </a:rPr>
                        <a:t>Reference for field</a:t>
                      </a:r>
                    </a:p>
                  </a:txBody>
                  <a:tcPr anchor="ctr">
                    <a:lnL w="7620" cap="flat" cmpd="sng" algn="ctr">
                      <a:solidFill>
                        <a:srgbClr val="E0900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09C0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0900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60B80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5532176"/>
                  </a:ext>
                </a:extLst>
              </a:tr>
            </a:tbl>
          </a:graphicData>
        </a:graphic>
      </p:graphicFrame>
      <p:sp>
        <p:nvSpPr>
          <p:cNvPr id="4" name="Rectangle 1">
            <a:extLst>
              <a:ext uri="{FF2B5EF4-FFF2-40B4-BE49-F238E27FC236}">
                <a16:creationId xmlns:a16="http://schemas.microsoft.com/office/drawing/2014/main" id="{2E09BB68-3F1D-48E5-8C4B-52154ACE29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6625" y="180022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60547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DF434-28DB-4621-A497-D62C41CE0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3027" y="-50379"/>
            <a:ext cx="11095890" cy="991672"/>
          </a:xfrm>
        </p:spPr>
        <p:txBody>
          <a:bodyPr/>
          <a:lstStyle/>
          <a:p>
            <a:pPr algn="l"/>
            <a:r>
              <a:rPr lang="en-US" sz="2800" b="1" i="0" dirty="0">
                <a:solidFill>
                  <a:srgbClr val="3B3B3B"/>
                </a:solidFill>
                <a:effectLst/>
                <a:latin typeface="Segoe WPC"/>
              </a:rPr>
              <a:t>What We Will Answer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03B7CEE-4F1C-4C82-973F-1B005693EC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6423605"/>
              </p:ext>
            </p:extLst>
          </p:nvPr>
        </p:nvGraphicFramePr>
        <p:xfrm>
          <a:off x="863026" y="1369804"/>
          <a:ext cx="9428457" cy="3683627"/>
        </p:xfrm>
        <a:graphic>
          <a:graphicData uri="http://schemas.openxmlformats.org/drawingml/2006/table">
            <a:tbl>
              <a:tblPr/>
              <a:tblGrid>
                <a:gridCol w="3142819">
                  <a:extLst>
                    <a:ext uri="{9D8B030D-6E8A-4147-A177-3AD203B41FA5}">
                      <a16:colId xmlns:a16="http://schemas.microsoft.com/office/drawing/2014/main" val="3826603529"/>
                    </a:ext>
                  </a:extLst>
                </a:gridCol>
                <a:gridCol w="3142819">
                  <a:extLst>
                    <a:ext uri="{9D8B030D-6E8A-4147-A177-3AD203B41FA5}">
                      <a16:colId xmlns:a16="http://schemas.microsoft.com/office/drawing/2014/main" val="351926873"/>
                    </a:ext>
                  </a:extLst>
                </a:gridCol>
                <a:gridCol w="3142819">
                  <a:extLst>
                    <a:ext uri="{9D8B030D-6E8A-4147-A177-3AD203B41FA5}">
                      <a16:colId xmlns:a16="http://schemas.microsoft.com/office/drawing/2014/main" val="232220698"/>
                    </a:ext>
                  </a:extLst>
                </a:gridCol>
              </a:tblGrid>
              <a:tr h="454502">
                <a:tc>
                  <a:txBody>
                    <a:bodyPr/>
                    <a:lstStyle/>
                    <a:p>
                      <a:pPr algn="l" fontAlgn="b"/>
                      <a:r>
                        <a:rPr lang="en-US" b="1">
                          <a:solidFill>
                            <a:srgbClr val="3B3B3B"/>
                          </a:solidFill>
                          <a:effectLst/>
                        </a:rPr>
                        <a:t>Research Question</a:t>
                      </a:r>
                    </a:p>
                  </a:txBody>
                  <a:tcPr anchor="b">
                    <a:lnL w="7620" cap="flat" cmpd="sng" algn="ctr">
                      <a:solidFill>
                        <a:srgbClr val="E0C5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60D1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0C5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0F3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b="1">
                          <a:solidFill>
                            <a:srgbClr val="3B3B3B"/>
                          </a:solidFill>
                          <a:effectLst/>
                        </a:rPr>
                        <a:t>Method</a:t>
                      </a:r>
                    </a:p>
                  </a:txBody>
                  <a:tcPr anchor="b">
                    <a:lnL w="7620" cap="flat" cmpd="sng" algn="ctr">
                      <a:solidFill>
                        <a:srgbClr val="60D1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60CD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60D1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0F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b="1">
                          <a:solidFill>
                            <a:srgbClr val="3B3B3B"/>
                          </a:solidFill>
                          <a:effectLst/>
                        </a:rPr>
                        <a:t>Expected Answer</a:t>
                      </a:r>
                    </a:p>
                  </a:txBody>
                  <a:tcPr anchor="b">
                    <a:lnL w="7620" cap="flat" cmpd="sng" algn="ctr">
                      <a:solidFill>
                        <a:srgbClr val="60CD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0C8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60CD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60010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9248566"/>
                  </a:ext>
                </a:extLst>
              </a:tr>
              <a:tr h="454502">
                <a:tc>
                  <a:txBody>
                    <a:bodyPr/>
                    <a:lstStyle/>
                    <a:p>
                      <a:pPr algn="l" fontAlgn="base"/>
                      <a:r>
                        <a:rPr lang="en-US" b="1">
                          <a:effectLst/>
                        </a:rPr>
                        <a:t>Q1: Does EffiRL scale to real grids?</a:t>
                      </a:r>
                      <a:endParaRPr lang="en-US">
                        <a:effectLst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A0F3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0F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0F3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0040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>
                          <a:effectLst/>
                        </a:rPr>
                        <a:t>Train on 177-bus</a:t>
                      </a:r>
                    </a:p>
                  </a:txBody>
                  <a:tcPr anchor="ctr">
                    <a:lnL w="7620" cap="flat" cmpd="sng" algn="ctr">
                      <a:solidFill>
                        <a:srgbClr val="A0F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60010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0F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01E0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dirty="0">
                          <a:effectLst/>
                        </a:rPr>
                        <a:t>??</a:t>
                      </a:r>
                    </a:p>
                  </a:txBody>
                  <a:tcPr anchor="ctr">
                    <a:lnL w="7620" cap="flat" cmpd="sng" algn="ctr">
                      <a:solidFill>
                        <a:srgbClr val="60010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0FF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60010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60220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3939368"/>
                  </a:ext>
                </a:extLst>
              </a:tr>
              <a:tr h="454502">
                <a:tc>
                  <a:txBody>
                    <a:bodyPr/>
                    <a:lstStyle/>
                    <a:p>
                      <a:pPr algn="l" fontAlgn="base"/>
                      <a:r>
                        <a:rPr lang="en-US" b="1">
                          <a:effectLst/>
                        </a:rPr>
                        <a:t>Q2: Do LLM priors help MORE at scale?</a:t>
                      </a:r>
                      <a:endParaRPr lang="en-US">
                        <a:effectLst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20040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01E0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0040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60420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>
                          <a:effectLst/>
                        </a:rPr>
                        <a:t>Compare speedup (5-bus vs 177-bus)</a:t>
                      </a:r>
                    </a:p>
                  </a:txBody>
                  <a:tcPr anchor="ctr">
                    <a:lnL w="7620" cap="flat" cmpd="sng" algn="ctr">
                      <a:solidFill>
                        <a:srgbClr val="A01E0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60220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01E0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0410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dirty="0">
                          <a:effectLst/>
                        </a:rPr>
                        <a:t>??</a:t>
                      </a:r>
                    </a:p>
                  </a:txBody>
                  <a:tcPr anchor="ctr">
                    <a:lnL w="7620" cap="flat" cmpd="sng" algn="ctr">
                      <a:solidFill>
                        <a:srgbClr val="60220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02E0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60220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0570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4737390"/>
                  </a:ext>
                </a:extLst>
              </a:tr>
              <a:tr h="649655">
                <a:tc>
                  <a:txBody>
                    <a:bodyPr/>
                    <a:lstStyle/>
                    <a:p>
                      <a:pPr algn="l" fontAlgn="base"/>
                      <a:r>
                        <a:rPr lang="en-US" b="1">
                          <a:effectLst/>
                        </a:rPr>
                        <a:t>Q3: Can it handle real-time loads?</a:t>
                      </a:r>
                      <a:endParaRPr lang="en-US">
                        <a:effectLst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60420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0410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60420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0560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>
                          <a:effectLst/>
                        </a:rPr>
                        <a:t>Time-series testing</a:t>
                      </a:r>
                    </a:p>
                  </a:txBody>
                  <a:tcPr anchor="ctr">
                    <a:lnL w="7620" cap="flat" cmpd="sng" algn="ctr">
                      <a:solidFill>
                        <a:srgbClr val="A0410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0570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0410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0650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>
                          <a:effectLst/>
                        </a:rPr>
                        <a:t>Yes, if data available</a:t>
                      </a:r>
                    </a:p>
                  </a:txBody>
                  <a:tcPr anchor="ctr">
                    <a:lnL w="7620" cap="flat" cmpd="sng" algn="ctr">
                      <a:solidFill>
                        <a:srgbClr val="A0570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0560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0570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06B0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9230698"/>
                  </a:ext>
                </a:extLst>
              </a:tr>
              <a:tr h="649655">
                <a:tc>
                  <a:txBody>
                    <a:bodyPr/>
                    <a:lstStyle/>
                    <a:p>
                      <a:pPr algn="l" fontAlgn="base"/>
                      <a:r>
                        <a:rPr lang="en-US" b="1">
                          <a:effectLst/>
                        </a:rPr>
                        <a:t>Q4: What's the computational cost?</a:t>
                      </a:r>
                      <a:endParaRPr lang="en-US">
                        <a:effectLst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20560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0650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0560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0850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>
                          <a:effectLst/>
                        </a:rPr>
                        <a:t>Measure training time</a:t>
                      </a:r>
                    </a:p>
                  </a:txBody>
                  <a:tcPr anchor="ctr">
                    <a:lnL w="7620" cap="flat" cmpd="sng" algn="ctr">
                      <a:solidFill>
                        <a:srgbClr val="20650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06B0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0650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0890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dirty="0">
                          <a:effectLst/>
                        </a:rPr>
                        <a:t>100-120 hours (maybe more on CPU)</a:t>
                      </a:r>
                    </a:p>
                  </a:txBody>
                  <a:tcPr anchor="ctr">
                    <a:lnL w="7620" cap="flat" cmpd="sng" algn="ctr">
                      <a:solidFill>
                        <a:srgbClr val="206B0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0710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06B0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0900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9267251"/>
                  </a:ext>
                </a:extLst>
              </a:tr>
              <a:tr h="649655">
                <a:tc>
                  <a:txBody>
                    <a:bodyPr/>
                    <a:lstStyle/>
                    <a:p>
                      <a:pPr algn="l" fontAlgn="base"/>
                      <a:r>
                        <a:rPr lang="en-US" b="1">
                          <a:effectLst/>
                        </a:rPr>
                        <a:t>Q5: How does it compare to baselines?</a:t>
                      </a:r>
                      <a:endParaRPr lang="en-US">
                        <a:effectLst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A0850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0890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0850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0AD0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dirty="0">
                          <a:effectLst/>
                        </a:rPr>
                        <a:t>Benchmark vs OPF/MPC</a:t>
                      </a:r>
                    </a:p>
                  </a:txBody>
                  <a:tcPr anchor="ctr">
                    <a:lnL w="7620" cap="flat" cmpd="sng" algn="ctr">
                      <a:solidFill>
                        <a:srgbClr val="20890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0900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0890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0B10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dirty="0">
                          <a:effectLst/>
                        </a:rPr>
                        <a:t>Competitive or better</a:t>
                      </a:r>
                    </a:p>
                  </a:txBody>
                  <a:tcPr anchor="ctr">
                    <a:lnL w="7620" cap="flat" cmpd="sng" algn="ctr">
                      <a:solidFill>
                        <a:srgbClr val="E0900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09C0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0900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60B80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5532176"/>
                  </a:ext>
                </a:extLst>
              </a:tr>
            </a:tbl>
          </a:graphicData>
        </a:graphic>
      </p:graphicFrame>
      <p:sp>
        <p:nvSpPr>
          <p:cNvPr id="4" name="Rectangle 1">
            <a:extLst>
              <a:ext uri="{FF2B5EF4-FFF2-40B4-BE49-F238E27FC236}">
                <a16:creationId xmlns:a16="http://schemas.microsoft.com/office/drawing/2014/main" id="{2E09BB68-3F1D-48E5-8C4B-52154ACE29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6625" y="180022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31854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1C753FD-96EC-101A-B8A4-5F69A189BE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7494" y="252549"/>
            <a:ext cx="6220278" cy="3262811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67BB04B7-47A4-741B-59E0-F0E6F2126E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7493" y="3685939"/>
            <a:ext cx="6220277" cy="2919512"/>
          </a:xfrm>
        </p:spPr>
        <p:txBody>
          <a:bodyPr/>
          <a:lstStyle/>
          <a:p>
            <a:r>
              <a:rPr lang="en-US" dirty="0"/>
              <a:t>Brita Tamm</a:t>
            </a:r>
          </a:p>
          <a:p>
            <a:r>
              <a:rPr lang="en-US" dirty="0"/>
              <a:t>502-555-0152</a:t>
            </a:r>
          </a:p>
          <a:p>
            <a:r>
              <a:rPr lang="en-US" dirty="0"/>
              <a:t>brita@firstupconsultants.com</a:t>
            </a:r>
          </a:p>
          <a:p>
            <a:r>
              <a:rPr lang="en-US" dirty="0"/>
              <a:t>www.firstupconsultants.com</a:t>
            </a:r>
          </a:p>
        </p:txBody>
      </p:sp>
    </p:spTree>
    <p:extLst>
      <p:ext uri="{BB962C8B-B14F-4D97-AF65-F5344CB8AC3E}">
        <p14:creationId xmlns:p14="http://schemas.microsoft.com/office/powerpoint/2010/main" val="1609673525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Universal Color Block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68FF"/>
      </a:accent1>
      <a:accent2>
        <a:srgbClr val="DAE5EF"/>
      </a:accent2>
      <a:accent3>
        <a:srgbClr val="637183"/>
      </a:accent3>
      <a:accent4>
        <a:srgbClr val="434E5E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75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45331398_Win32_SL_V13" id="{C59E605D-C281-4A06-BDA0-E97A35AC3AA8}" vid="{25D1D206-DA25-4050-926A-BD6D3A1B506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45A8381C-73EB-48EA-B45F-7B7C8C7DF40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AA6A711-2C3F-4EC0-B88B-62D74085117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1E98C35-9ECE-4425-BCBA-00E118C705CE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Universal presentation</Template>
  <TotalTime>91</TotalTime>
  <Words>1100</Words>
  <Application>Microsoft Office PowerPoint</Application>
  <PresentationFormat>Widescreen</PresentationFormat>
  <Paragraphs>346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Segoe WPC</vt:lpstr>
      <vt:lpstr>Tenorite</vt:lpstr>
      <vt:lpstr>Custom</vt:lpstr>
      <vt:lpstr>Discussion on Idea of Efficient RL with LLM Integration for Power Grid Control</vt:lpstr>
      <vt:lpstr>Challenges in Modern Power Grid Control</vt:lpstr>
      <vt:lpstr>EffiRL : System Architecture Overview</vt:lpstr>
      <vt:lpstr>EffiRL Framework: RL + LLM Synergy</vt:lpstr>
      <vt:lpstr>Training Process Breakdown</vt:lpstr>
      <vt:lpstr>Multi-Objective Reward and Simulation</vt:lpstr>
      <vt:lpstr>Performance Comparison of Approaches</vt:lpstr>
      <vt:lpstr>Summary of EffiRL Findings</vt:lpstr>
      <vt:lpstr>Research Motivation </vt:lpstr>
      <vt:lpstr> Dataset Comparison - What We're Scaling</vt:lpstr>
      <vt:lpstr>Key Finding from Prior Work</vt:lpstr>
      <vt:lpstr>What We Have vs What We Need</vt:lpstr>
      <vt:lpstr>Novel Aspects</vt:lpstr>
      <vt:lpstr>What We Will Answer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Discussion on Idea of Efficient RL with LLM Integration for Power Grid Control</dc:title>
  <dc:creator>Shoaib Ahmad</dc:creator>
  <cp:lastModifiedBy>Shoaib Ahmad</cp:lastModifiedBy>
  <cp:revision>10</cp:revision>
  <dcterms:created xsi:type="dcterms:W3CDTF">2025-11-17T18:26:17Z</dcterms:created>
  <dcterms:modified xsi:type="dcterms:W3CDTF">2025-11-17T19:57:23Z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